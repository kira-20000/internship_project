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2" r:id="rId4"/>
    <p:sldId id="258" r:id="rId5"/>
    <p:sldId id="263" r:id="rId6"/>
    <p:sldId id="266" r:id="rId7"/>
    <p:sldId id="269" r:id="rId8"/>
    <p:sldId id="270" r:id="rId9"/>
    <p:sldId id="267" r:id="rId10"/>
    <p:sldId id="260" r:id="rId11"/>
    <p:sldId id="264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هالة عبد الحميد مصطفى دويدار" initials="هالة" lastIdx="2" clrIdx="0">
    <p:extLst>
      <p:ext uri="{19B8F6BF-5375-455C-9EA6-DF929625EA0E}">
        <p15:presenceInfo xmlns:p15="http://schemas.microsoft.com/office/powerpoint/2012/main" userId="S::Postgrad2023_regular1261@edu.asu.edu.eg::d1ff02b6-0569-4787-bd63-f8d24f0f7f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8FF"/>
    <a:srgbClr val="CF9FFF"/>
    <a:srgbClr val="C489FF"/>
    <a:srgbClr val="CD8BFF"/>
    <a:srgbClr val="CC99FF"/>
    <a:srgbClr val="000E2A"/>
    <a:srgbClr val="082E79"/>
    <a:srgbClr val="0084FF"/>
    <a:srgbClr val="001642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41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4F726-63D9-4C13-B1F0-25402618923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F4342-92CA-48E8-86AE-630825520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93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4B03-57DB-BFA8-D77F-029686A3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0EE8E-AB13-3AEA-78AB-E3840A848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BAD0E-CAA4-4AB5-02F9-CE35ABB7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6E18-7C98-E5A0-E89B-792B32CA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41D20-EABB-7084-53F3-1D509EDC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13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C3D2-AFA2-CDC3-54E9-12D289E9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0750-6D8E-750B-33CD-692B7948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72AB9-9A6C-A07F-7D72-6FDCBC38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71914-DAF8-8892-65FF-B496A8D1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EE0F2-B7ED-505F-0694-54195AD5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77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9FA3-3BDB-E33F-1641-07AC575E1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33D9E-2FAB-7FD7-64D2-2ED2B41EF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9E990-0E37-8E22-E0BD-EF2A652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B2D00-92CC-9A50-DC0A-14B04197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301B-C884-29E9-4FBC-8F744051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07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451F-9DD8-7386-925F-D3A88600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AA178-1345-E981-F8B7-938CBC495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3036D-22CF-DBA1-85CE-5BA0CBA17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A358-CC03-F4AB-F71B-21CD9108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9BC8-0567-6BA6-4236-7ABC3356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AD40-5BC6-9599-37C5-BF5D5FE2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94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510E-252A-B680-0B52-4B0B135A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B7278-1786-8CCC-9A03-0FE426A4B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19F9-6B63-8F5F-E96D-AC3BEEC28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17C1A-5EB0-93D9-9B1B-1CB1FB4C3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AC24A-1A38-FEA0-52BE-768AC7E8E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2AF12-D3FB-C3FB-FB94-70926A9E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98794-2301-C9D6-580F-61F30D9C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D4A98-3C2C-6D5A-7EC1-D5D043EC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56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6E04-B072-F3FB-BAF8-E01BEC82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26538-FC9F-3CB3-1CDA-5B0B3A8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D573-F145-03BA-A5ED-A70E6F0C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33456-F71D-D29F-41CC-378DBDDD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90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0E909-B275-9210-DB7B-1A7C60ED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71546-3B91-BDF9-A282-4E2F770A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1A46C-685A-B0A6-8B08-6696B232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96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F489-B434-BEDE-B4D0-4CEF3EF0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07F0-6ADD-C49B-5608-318118F24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EB03D-95CB-24DE-A25F-290DD5242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1D10C-344D-034A-01B4-5456B620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084AD-CA10-221F-6EB4-94E6C435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26D6D-4742-A435-D5EA-E81419CF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12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10E0-AC55-D520-31C9-89CD09A3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892D3-2D4E-0F92-4F7E-47C69B0FD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813FA-E3BB-5782-5ACF-2814F3E28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2EA3E-AF3E-0A3E-D168-B62391E2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240CD-2644-7A9E-7A6B-3E565422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62B66-B524-D18C-9FBE-3A35865B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42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FAEC-DABF-11D6-1548-6FD85BAAC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C4E01-2A08-2D04-C4AB-A5676230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C5A7-1FB6-5A99-5F0E-7D96B448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74CE-98B9-D437-7D5C-AA600720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490C-5D1A-5044-3353-8F087A46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16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1BC77-F0CF-687D-2F25-B3D9993B4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97B11-45A5-FF3A-9AF4-666F14124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CA87-1D4F-A7DC-7472-D842D069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8E5DF-5732-F7E1-D0A0-DE9A6DBE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15DF-5E3F-5B3D-7946-60ED0546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98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3B52A-4B55-6F1A-9772-83367F46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9C2C3-C7EF-B52F-4725-64D68489C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E5041-9BFC-8ACF-FF36-9D2E886D1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B2BC0-3052-4D5E-9BC2-BB4000F13612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13DD2-FE4F-31D4-BDA2-123561C8A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3BC24-C9AB-B0E5-3F2A-614C9B68B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7E02A-27F1-40FA-B16E-D0BF16D8A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8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CB949-4AE9-8E02-5B2E-DFB37893B95F}"/>
              </a:ext>
            </a:extLst>
          </p:cNvPr>
          <p:cNvSpPr txBox="1"/>
          <p:nvPr/>
        </p:nvSpPr>
        <p:spPr>
          <a:xfrm rot="10800000" flipV="1">
            <a:off x="1998224" y="1525555"/>
            <a:ext cx="8404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chemeClr val="bg1"/>
                </a:solidFill>
              </a:rPr>
              <a:t>​InternHub: Bridging Talent &amp; Opportunity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B65D-B1AC-5437-B016-69E8DB625B93}"/>
              </a:ext>
            </a:extLst>
          </p:cNvPr>
          <p:cNvSpPr txBox="1"/>
          <p:nvPr/>
        </p:nvSpPr>
        <p:spPr>
          <a:xfrm>
            <a:off x="2642406" y="4132904"/>
            <a:ext cx="9678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CF9FFF"/>
                </a:solidFill>
              </a:rPr>
              <a:t>Your Gateway to Professional Growth and Tech Excellence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8B527D-D3D5-CE37-2965-FEC79E974A55}"/>
              </a:ext>
            </a:extLst>
          </p:cNvPr>
          <p:cNvCxnSpPr/>
          <p:nvPr/>
        </p:nvCxnSpPr>
        <p:spPr>
          <a:xfrm>
            <a:off x="565079" y="3785135"/>
            <a:ext cx="1127075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Freeform 2">
            <a:extLst>
              <a:ext uri="{FF2B5EF4-FFF2-40B4-BE49-F238E27FC236}">
                <a16:creationId xmlns:a16="http://schemas.microsoft.com/office/drawing/2014/main" id="{6D20C66A-4B67-CA2A-BD14-8D994FAA5DEE}"/>
              </a:ext>
            </a:extLst>
          </p:cNvPr>
          <p:cNvSpPr/>
          <p:nvPr/>
        </p:nvSpPr>
        <p:spPr>
          <a:xfrm>
            <a:off x="-166116" y="75938"/>
            <a:ext cx="12358116" cy="6706123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47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EAE64-C6F0-F70E-B3F3-6CEA2234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0393B-80C7-7DDA-28DD-E69EA0D0864E}"/>
              </a:ext>
            </a:extLst>
          </p:cNvPr>
          <p:cNvSpPr txBox="1"/>
          <p:nvPr/>
        </p:nvSpPr>
        <p:spPr>
          <a:xfrm rot="10800000" flipV="1">
            <a:off x="1511928" y="1352715"/>
            <a:ext cx="8712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​Who We Are 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3561AB-AA59-9660-A8AB-FCCF375D0F40}"/>
              </a:ext>
            </a:extLst>
          </p:cNvPr>
          <p:cNvCxnSpPr/>
          <p:nvPr/>
        </p:nvCxnSpPr>
        <p:spPr>
          <a:xfrm>
            <a:off x="565077" y="2699535"/>
            <a:ext cx="1127075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2D7907-7AD7-F773-9CE6-9435253AD2D4}"/>
              </a:ext>
            </a:extLst>
          </p:cNvPr>
          <p:cNvSpPr/>
          <p:nvPr/>
        </p:nvSpPr>
        <p:spPr>
          <a:xfrm>
            <a:off x="4307437" y="3536437"/>
            <a:ext cx="3946992" cy="2229490"/>
          </a:xfrm>
          <a:prstGeom prst="roundRect">
            <a:avLst/>
          </a:prstGeom>
          <a:solidFill>
            <a:srgbClr val="7030A0"/>
          </a:solidFill>
          <a:ln w="190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F9FFF"/>
                </a:solidFill>
              </a:rPr>
              <a:t>Bridging the Gap (Transforming theoretical knowledge into practical, industry-ready skills).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263340-F8D6-0018-C842-54F444FEF9E9}"/>
              </a:ext>
            </a:extLst>
          </p:cNvPr>
          <p:cNvSpPr/>
          <p:nvPr/>
        </p:nvSpPr>
        <p:spPr>
          <a:xfrm>
            <a:off x="8327204" y="3536437"/>
            <a:ext cx="3758779" cy="2229490"/>
          </a:xfrm>
          <a:prstGeom prst="roundRect">
            <a:avLst/>
          </a:prstGeom>
          <a:solidFill>
            <a:srgbClr val="7030A0"/>
          </a:solidFill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F9FFF"/>
                </a:solidFill>
              </a:rPr>
              <a:t>Community-Driven (Built for students, self-learners, and future tech leaders).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9A5F2B-5DE5-02E4-8177-71A3062B1ACD}"/>
              </a:ext>
            </a:extLst>
          </p:cNvPr>
          <p:cNvSpPr/>
          <p:nvPr/>
        </p:nvSpPr>
        <p:spPr>
          <a:xfrm>
            <a:off x="106017" y="3536437"/>
            <a:ext cx="4128646" cy="2229490"/>
          </a:xfrm>
          <a:prstGeom prst="roundRect">
            <a:avLst/>
          </a:prstGeom>
          <a:solidFill>
            <a:srgbClr val="7030A0"/>
          </a:solidFill>
          <a:ln w="2857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F9FFF"/>
                </a:solidFill>
              </a:rPr>
              <a:t>Empowering the Next Generation (Connecting ambitious learners with real-world tech opportunities).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D13F723A-0AC2-4552-A93D-1B290ECDA5FD}"/>
              </a:ext>
            </a:extLst>
          </p:cNvPr>
          <p:cNvSpPr/>
          <p:nvPr/>
        </p:nvSpPr>
        <p:spPr>
          <a:xfrm>
            <a:off x="5787960" y="622037"/>
            <a:ext cx="6404040" cy="353642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56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8D3D-8569-8EFD-3310-B9FEAC95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B76737F-010E-10D7-E564-EDEB102AB1B2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3117DA7A-0328-7F59-12C0-0A59F60CE4A0}"/>
              </a:ext>
            </a:extLst>
          </p:cNvPr>
          <p:cNvSpPr/>
          <p:nvPr/>
        </p:nvSpPr>
        <p:spPr>
          <a:xfrm>
            <a:off x="19914" y="1207800"/>
            <a:ext cx="7565456" cy="818148"/>
          </a:xfrm>
          <a:prstGeom prst="round1Rect">
            <a:avLst/>
          </a:prstGeom>
          <a:solidFill>
            <a:srgbClr val="7030A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The Problem &amp; Our Solution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8961F0-41BA-82C3-AF90-7E39B2FA6D17}"/>
              </a:ext>
            </a:extLst>
          </p:cNvPr>
          <p:cNvSpPr/>
          <p:nvPr/>
        </p:nvSpPr>
        <p:spPr>
          <a:xfrm>
            <a:off x="351606" y="4233193"/>
            <a:ext cx="5178287" cy="2287273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📉 </a:t>
            </a:r>
          </a:p>
          <a:p>
            <a:r>
              <a:rPr lang="en-GB" sz="2200" dirty="0">
                <a:solidFill>
                  <a:srgbClr val="CF9FFF"/>
                </a:solidFill>
              </a:rPr>
              <a:t>Students struggle to find practical, real-world internships, and traditional education lacks hands-on industry connection.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06C188-E38D-7A1F-C23A-AEC5DD311694}"/>
              </a:ext>
            </a:extLst>
          </p:cNvPr>
          <p:cNvSpPr/>
          <p:nvPr/>
        </p:nvSpPr>
        <p:spPr>
          <a:xfrm>
            <a:off x="6662107" y="4233193"/>
            <a:ext cx="5178287" cy="2287273"/>
          </a:xfrm>
          <a:prstGeom prst="roundRect">
            <a:avLst/>
          </a:prstGeom>
          <a:solidFill>
            <a:srgbClr val="7030A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🎯</a:t>
            </a:r>
            <a:r>
              <a:rPr lang="en-GB" sz="2000" dirty="0"/>
              <a:t> </a:t>
            </a:r>
          </a:p>
          <a:p>
            <a:r>
              <a:rPr lang="en-GB" sz="2200" dirty="0">
                <a:solidFill>
                  <a:srgbClr val="CF9FFF"/>
                </a:solidFill>
              </a:rPr>
              <a:t>InternHub bridges this gap by directly connecting ambitious learners with verified companies through a seamless platform.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1F8A5D-0050-87A1-E87D-5DC7DABFE3A2}"/>
              </a:ext>
            </a:extLst>
          </p:cNvPr>
          <p:cNvSpPr/>
          <p:nvPr/>
        </p:nvSpPr>
        <p:spPr>
          <a:xfrm>
            <a:off x="7338704" y="3156746"/>
            <a:ext cx="4144618" cy="675861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🚀 </a:t>
            </a:r>
            <a:r>
              <a:rPr lang="en-GB" sz="2400" b="1" dirty="0">
                <a:solidFill>
                  <a:schemeClr val="bg1"/>
                </a:solidFill>
              </a:rPr>
              <a:t>Our Solution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4CB140-704E-7A93-08C2-77EE7E4C189F}"/>
              </a:ext>
            </a:extLst>
          </p:cNvPr>
          <p:cNvSpPr/>
          <p:nvPr/>
        </p:nvSpPr>
        <p:spPr>
          <a:xfrm>
            <a:off x="838430" y="3156746"/>
            <a:ext cx="4144618" cy="675861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⚠️ </a:t>
            </a:r>
            <a:r>
              <a:rPr lang="en-GB" sz="2400" b="1" dirty="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AE3EF03E-E964-A5C7-3654-B39C8746F7FD}"/>
              </a:ext>
            </a:extLst>
          </p:cNvPr>
          <p:cNvSpPr/>
          <p:nvPr/>
        </p:nvSpPr>
        <p:spPr>
          <a:xfrm>
            <a:off x="7816376" y="254253"/>
            <a:ext cx="4144618" cy="2498081"/>
          </a:xfrm>
          <a:custGeom>
            <a:avLst/>
            <a:gdLst/>
            <a:ahLst/>
            <a:cxnLst/>
            <a:rect l="l" t="t" r="r" b="b"/>
            <a:pathLst>
              <a:path w="6413568" h="3992446">
                <a:moveTo>
                  <a:pt x="0" y="0"/>
                </a:moveTo>
                <a:lnTo>
                  <a:pt x="6413567" y="0"/>
                </a:lnTo>
                <a:lnTo>
                  <a:pt x="6413567" y="3992446"/>
                </a:lnTo>
                <a:lnTo>
                  <a:pt x="0" y="3992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72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6BAFC82A-50B7-5CEB-F8B7-EA478D52113D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0AA0DF0B-16AF-D526-1901-63D8E6CABB7F}"/>
              </a:ext>
            </a:extLst>
          </p:cNvPr>
          <p:cNvSpPr/>
          <p:nvPr/>
        </p:nvSpPr>
        <p:spPr>
          <a:xfrm>
            <a:off x="2407024" y="236934"/>
            <a:ext cx="7565456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Our Execution Roadmap &amp; Phases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A9976-F294-213B-1572-F260FCE59410}"/>
              </a:ext>
            </a:extLst>
          </p:cNvPr>
          <p:cNvSpPr txBox="1"/>
          <p:nvPr/>
        </p:nvSpPr>
        <p:spPr>
          <a:xfrm>
            <a:off x="3491131" y="1293554"/>
            <a:ext cx="5505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​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structured approach to transforming ideas into functional, user-ready digital solutions.</a:t>
            </a:r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id="{EFC20591-0979-B64E-54EB-7ECD1F315814}"/>
              </a:ext>
            </a:extLst>
          </p:cNvPr>
          <p:cNvGrpSpPr/>
          <p:nvPr/>
        </p:nvGrpSpPr>
        <p:grpSpPr>
          <a:xfrm>
            <a:off x="356134" y="4075256"/>
            <a:ext cx="3134997" cy="2233210"/>
            <a:chOff x="0" y="0"/>
            <a:chExt cx="824897" cy="709863"/>
          </a:xfrm>
        </p:grpSpPr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7726EEF1-59D8-1641-FC05-9F35B99EBB95}"/>
                </a:ext>
              </a:extLst>
            </p:cNvPr>
            <p:cNvSpPr/>
            <p:nvPr/>
          </p:nvSpPr>
          <p:spPr>
            <a:xfrm>
              <a:off x="0" y="0"/>
              <a:ext cx="824897" cy="709863"/>
            </a:xfrm>
            <a:custGeom>
              <a:avLst/>
              <a:gdLst/>
              <a:ahLst/>
              <a:cxnLst/>
              <a:rect l="l" t="t" r="r" b="b"/>
              <a:pathLst>
                <a:path w="824897" h="70986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675257"/>
                  </a:lnTo>
                  <a:cubicBezTo>
                    <a:pt x="824897" y="684435"/>
                    <a:pt x="821251" y="693237"/>
                    <a:pt x="814761" y="699727"/>
                  </a:cubicBezTo>
                  <a:cubicBezTo>
                    <a:pt x="808271" y="706217"/>
                    <a:pt x="799469" y="709863"/>
                    <a:pt x="790291" y="709863"/>
                  </a:cubicBezTo>
                  <a:lnTo>
                    <a:pt x="34606" y="709863"/>
                  </a:lnTo>
                  <a:cubicBezTo>
                    <a:pt x="15494" y="709863"/>
                    <a:pt x="0" y="694369"/>
                    <a:pt x="0" y="67525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F3E8FF"/>
            </a:solidFill>
            <a:ln w="38100">
              <a:solidFill>
                <a:srgbClr val="7030A0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" name="TextBox 20">
              <a:extLst>
                <a:ext uri="{FF2B5EF4-FFF2-40B4-BE49-F238E27FC236}">
                  <a16:creationId xmlns:a16="http://schemas.microsoft.com/office/drawing/2014/main" id="{8FBFBA34-41CD-A40A-226C-23896AC7E551}"/>
                </a:ext>
              </a:extLst>
            </p:cNvPr>
            <p:cNvSpPr txBox="1"/>
            <p:nvPr/>
          </p:nvSpPr>
          <p:spPr>
            <a:xfrm>
              <a:off x="0" y="-47625"/>
              <a:ext cx="824897" cy="757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2245DE3B-D3C0-D560-15CF-017FF3ED367B}"/>
              </a:ext>
            </a:extLst>
          </p:cNvPr>
          <p:cNvGrpSpPr/>
          <p:nvPr/>
        </p:nvGrpSpPr>
        <p:grpSpPr>
          <a:xfrm>
            <a:off x="4525305" y="4093286"/>
            <a:ext cx="3247595" cy="2233210"/>
            <a:chOff x="0" y="0"/>
            <a:chExt cx="824897" cy="709863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D796B950-307A-F0DD-3E17-672BFD517577}"/>
                </a:ext>
              </a:extLst>
            </p:cNvPr>
            <p:cNvSpPr/>
            <p:nvPr/>
          </p:nvSpPr>
          <p:spPr>
            <a:xfrm>
              <a:off x="0" y="0"/>
              <a:ext cx="824897" cy="709863"/>
            </a:xfrm>
            <a:custGeom>
              <a:avLst/>
              <a:gdLst/>
              <a:ahLst/>
              <a:cxnLst/>
              <a:rect l="l" t="t" r="r" b="b"/>
              <a:pathLst>
                <a:path w="824897" h="70986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675257"/>
                  </a:lnTo>
                  <a:cubicBezTo>
                    <a:pt x="824897" y="684435"/>
                    <a:pt x="821251" y="693237"/>
                    <a:pt x="814761" y="699727"/>
                  </a:cubicBezTo>
                  <a:cubicBezTo>
                    <a:pt x="808271" y="706217"/>
                    <a:pt x="799469" y="709863"/>
                    <a:pt x="790291" y="709863"/>
                  </a:cubicBezTo>
                  <a:lnTo>
                    <a:pt x="34606" y="709863"/>
                  </a:lnTo>
                  <a:cubicBezTo>
                    <a:pt x="15494" y="709863"/>
                    <a:pt x="0" y="694369"/>
                    <a:pt x="0" y="67525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F3E8FF"/>
            </a:solidFill>
            <a:ln w="38100">
              <a:solidFill>
                <a:srgbClr val="7030A0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" name="TextBox 20">
              <a:extLst>
                <a:ext uri="{FF2B5EF4-FFF2-40B4-BE49-F238E27FC236}">
                  <a16:creationId xmlns:a16="http://schemas.microsoft.com/office/drawing/2014/main" id="{3621A7FF-3EE0-5E1A-16BC-5885A5B44FF6}"/>
                </a:ext>
              </a:extLst>
            </p:cNvPr>
            <p:cNvSpPr txBox="1"/>
            <p:nvPr/>
          </p:nvSpPr>
          <p:spPr>
            <a:xfrm>
              <a:off x="0" y="-47625"/>
              <a:ext cx="824897" cy="757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13" name="Group 18">
            <a:extLst>
              <a:ext uri="{FF2B5EF4-FFF2-40B4-BE49-F238E27FC236}">
                <a16:creationId xmlns:a16="http://schemas.microsoft.com/office/drawing/2014/main" id="{B9002C3C-6097-62CC-F9DB-A90433EAABA3}"/>
              </a:ext>
            </a:extLst>
          </p:cNvPr>
          <p:cNvGrpSpPr/>
          <p:nvPr/>
        </p:nvGrpSpPr>
        <p:grpSpPr>
          <a:xfrm>
            <a:off x="8875013" y="4063418"/>
            <a:ext cx="3139789" cy="2233210"/>
            <a:chOff x="0" y="0"/>
            <a:chExt cx="824897" cy="709863"/>
          </a:xfrm>
        </p:grpSpPr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B98A642F-889F-0031-D14D-F7F894F1E08F}"/>
                </a:ext>
              </a:extLst>
            </p:cNvPr>
            <p:cNvSpPr/>
            <p:nvPr/>
          </p:nvSpPr>
          <p:spPr>
            <a:xfrm>
              <a:off x="0" y="0"/>
              <a:ext cx="824897" cy="709863"/>
            </a:xfrm>
            <a:custGeom>
              <a:avLst/>
              <a:gdLst/>
              <a:ahLst/>
              <a:cxnLst/>
              <a:rect l="l" t="t" r="r" b="b"/>
              <a:pathLst>
                <a:path w="824897" h="70986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675257"/>
                  </a:lnTo>
                  <a:cubicBezTo>
                    <a:pt x="824897" y="684435"/>
                    <a:pt x="821251" y="693237"/>
                    <a:pt x="814761" y="699727"/>
                  </a:cubicBezTo>
                  <a:cubicBezTo>
                    <a:pt x="808271" y="706217"/>
                    <a:pt x="799469" y="709863"/>
                    <a:pt x="790291" y="709863"/>
                  </a:cubicBezTo>
                  <a:lnTo>
                    <a:pt x="34606" y="709863"/>
                  </a:lnTo>
                  <a:cubicBezTo>
                    <a:pt x="15494" y="709863"/>
                    <a:pt x="0" y="694369"/>
                    <a:pt x="0" y="67525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F3E8FF"/>
            </a:solidFill>
            <a:ln w="38100">
              <a:solidFill>
                <a:srgbClr val="7030A0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B2A0E9E5-229F-0B91-EF17-AA5B8159232F}"/>
                </a:ext>
              </a:extLst>
            </p:cNvPr>
            <p:cNvSpPr txBox="1"/>
            <p:nvPr/>
          </p:nvSpPr>
          <p:spPr>
            <a:xfrm>
              <a:off x="0" y="-47625"/>
              <a:ext cx="824897" cy="757488"/>
            </a:xfrm>
            <a:prstGeom prst="rect">
              <a:avLst/>
            </a:prstGeom>
            <a:ln>
              <a:solidFill>
                <a:srgbClr val="001B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19" name="Group 31">
            <a:extLst>
              <a:ext uri="{FF2B5EF4-FFF2-40B4-BE49-F238E27FC236}">
                <a16:creationId xmlns:a16="http://schemas.microsoft.com/office/drawing/2014/main" id="{0FCEEA9A-7CCF-CE62-9904-CB20C0D94BE9}"/>
              </a:ext>
            </a:extLst>
          </p:cNvPr>
          <p:cNvGrpSpPr/>
          <p:nvPr/>
        </p:nvGrpSpPr>
        <p:grpSpPr>
          <a:xfrm>
            <a:off x="337370" y="2151268"/>
            <a:ext cx="3186502" cy="3574826"/>
            <a:chOff x="0" y="0"/>
            <a:chExt cx="824897" cy="628323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FB636BE7-FB3A-45CE-8D37-07F0AB660049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7CA4D8FE-C1F3-6D2C-35B6-803B4939C55F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2" name="Group 31">
            <a:extLst>
              <a:ext uri="{FF2B5EF4-FFF2-40B4-BE49-F238E27FC236}">
                <a16:creationId xmlns:a16="http://schemas.microsoft.com/office/drawing/2014/main" id="{0A31EF4E-0354-1002-58B2-05B79514D82F}"/>
              </a:ext>
            </a:extLst>
          </p:cNvPr>
          <p:cNvGrpSpPr/>
          <p:nvPr/>
        </p:nvGrpSpPr>
        <p:grpSpPr>
          <a:xfrm>
            <a:off x="4471485" y="2176573"/>
            <a:ext cx="3346416" cy="3724194"/>
            <a:chOff x="0" y="-269931"/>
            <a:chExt cx="832141" cy="898254"/>
          </a:xfrm>
        </p:grpSpPr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D64A088-0B16-D37D-742D-D7277DB5380F}"/>
                </a:ext>
              </a:extLst>
            </p:cNvPr>
            <p:cNvSpPr/>
            <p:nvPr/>
          </p:nvSpPr>
          <p:spPr>
            <a:xfrm>
              <a:off x="7244" y="-269931"/>
              <a:ext cx="824897" cy="846778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F3D9217F-EB34-9193-C30E-242B14FBB884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5" name="Group 31">
            <a:extLst>
              <a:ext uri="{FF2B5EF4-FFF2-40B4-BE49-F238E27FC236}">
                <a16:creationId xmlns:a16="http://schemas.microsoft.com/office/drawing/2014/main" id="{A6B4425F-085E-A982-2A6E-7FA03CE9627B}"/>
              </a:ext>
            </a:extLst>
          </p:cNvPr>
          <p:cNvGrpSpPr/>
          <p:nvPr/>
        </p:nvGrpSpPr>
        <p:grpSpPr>
          <a:xfrm>
            <a:off x="8855321" y="2151267"/>
            <a:ext cx="3159481" cy="3583989"/>
            <a:chOff x="0" y="0"/>
            <a:chExt cx="824897" cy="628323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C4DB4634-B4B6-D56A-5939-1F2F7225E78C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1F80CA97-CE35-3A26-A03C-6F5755CE01E9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sp>
        <p:nvSpPr>
          <p:cNvPr id="34" name="Freeform 24">
            <a:extLst>
              <a:ext uri="{FF2B5EF4-FFF2-40B4-BE49-F238E27FC236}">
                <a16:creationId xmlns:a16="http://schemas.microsoft.com/office/drawing/2014/main" id="{B3EE8F24-8BD5-1F8C-A0E7-AF7C772B6575}"/>
              </a:ext>
            </a:extLst>
          </p:cNvPr>
          <p:cNvSpPr/>
          <p:nvPr/>
        </p:nvSpPr>
        <p:spPr>
          <a:xfrm>
            <a:off x="1414094" y="2292309"/>
            <a:ext cx="1299589" cy="1348630"/>
          </a:xfrm>
          <a:custGeom>
            <a:avLst/>
            <a:gdLst/>
            <a:ahLst/>
            <a:cxnLst/>
            <a:rect l="l" t="t" r="r" b="b"/>
            <a:pathLst>
              <a:path w="1299589" h="1348630">
                <a:moveTo>
                  <a:pt x="0" y="0"/>
                </a:moveTo>
                <a:lnTo>
                  <a:pt x="1299590" y="0"/>
                </a:lnTo>
                <a:lnTo>
                  <a:pt x="1299590" y="1348630"/>
                </a:lnTo>
                <a:lnTo>
                  <a:pt x="0" y="1348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F8C3E0-4D48-C24A-8267-E7AC8FE1F5E3}"/>
              </a:ext>
            </a:extLst>
          </p:cNvPr>
          <p:cNvSpPr txBox="1"/>
          <p:nvPr/>
        </p:nvSpPr>
        <p:spPr>
          <a:xfrm>
            <a:off x="414390" y="3720036"/>
            <a:ext cx="3002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CC99FF"/>
                </a:solidFill>
              </a:rPr>
              <a:t>Wireframing user journeys, designing clean interfaces, and ensuring a seamless user experience.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1C0049-DF0D-0BC6-A2F3-4B4887AB3D75}"/>
              </a:ext>
            </a:extLst>
          </p:cNvPr>
          <p:cNvSpPr txBox="1"/>
          <p:nvPr/>
        </p:nvSpPr>
        <p:spPr>
          <a:xfrm>
            <a:off x="8996781" y="5842660"/>
            <a:ext cx="3619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Phase 3: Backend &amp; Database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4CEB8C-FCB6-D845-89E9-1534615EA43C}"/>
              </a:ext>
            </a:extLst>
          </p:cNvPr>
          <p:cNvSpPr txBox="1"/>
          <p:nvPr/>
        </p:nvSpPr>
        <p:spPr>
          <a:xfrm>
            <a:off x="8944733" y="3550159"/>
            <a:ext cx="31397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CC99FF"/>
                </a:solidFill>
              </a:rPr>
              <a:t>Developing secure APIs using Node.js &amp; Express, and managing data with MongoDB for</a:t>
            </a:r>
            <a:r>
              <a:rPr lang="ar-EG" sz="2000" dirty="0">
                <a:solidFill>
                  <a:srgbClr val="CC99FF"/>
                </a:solidFill>
              </a:rPr>
              <a:t> </a:t>
            </a:r>
            <a:r>
              <a:rPr lang="en-GB" sz="2000" dirty="0">
                <a:solidFill>
                  <a:srgbClr val="CC99FF"/>
                </a:solidFill>
              </a:rPr>
              <a:t>authentication</a:t>
            </a:r>
            <a:r>
              <a:rPr lang="ar-EG" sz="2000" dirty="0">
                <a:solidFill>
                  <a:srgbClr val="CC99FF"/>
                </a:solidFill>
              </a:rPr>
              <a:t> </a:t>
            </a:r>
            <a:r>
              <a:rPr lang="en-GB" sz="2000" dirty="0">
                <a:solidFill>
                  <a:srgbClr val="CC99FF"/>
                </a:solidFill>
              </a:rPr>
              <a:t>and applications.</a:t>
            </a:r>
          </a:p>
        </p:txBody>
      </p:sp>
      <p:sp>
        <p:nvSpPr>
          <p:cNvPr id="44" name="Freeform 38">
            <a:extLst>
              <a:ext uri="{FF2B5EF4-FFF2-40B4-BE49-F238E27FC236}">
                <a16:creationId xmlns:a16="http://schemas.microsoft.com/office/drawing/2014/main" id="{C35CB056-F5D2-D5BF-C604-0DE5BD126EF5}"/>
              </a:ext>
            </a:extLst>
          </p:cNvPr>
          <p:cNvSpPr/>
          <p:nvPr/>
        </p:nvSpPr>
        <p:spPr>
          <a:xfrm>
            <a:off x="9810389" y="2333249"/>
            <a:ext cx="1181924" cy="1168797"/>
          </a:xfrm>
          <a:custGeom>
            <a:avLst/>
            <a:gdLst/>
            <a:ahLst/>
            <a:cxnLst/>
            <a:rect l="l" t="t" r="r" b="b"/>
            <a:pathLst>
              <a:path w="1395908" h="1373066">
                <a:moveTo>
                  <a:pt x="0" y="0"/>
                </a:moveTo>
                <a:lnTo>
                  <a:pt x="1395908" y="0"/>
                </a:lnTo>
                <a:lnTo>
                  <a:pt x="1395908" y="1373066"/>
                </a:lnTo>
                <a:lnTo>
                  <a:pt x="0" y="1373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36B722-5356-35DA-3D4E-A78641809228}"/>
              </a:ext>
            </a:extLst>
          </p:cNvPr>
          <p:cNvSpPr txBox="1"/>
          <p:nvPr/>
        </p:nvSpPr>
        <p:spPr>
          <a:xfrm>
            <a:off x="4836483" y="5807321"/>
            <a:ext cx="630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Phase 2: Frontend (React)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A5170-5097-FC25-A16E-FEDBE0F8EC42}"/>
              </a:ext>
            </a:extLst>
          </p:cNvPr>
          <p:cNvSpPr txBox="1"/>
          <p:nvPr/>
        </p:nvSpPr>
        <p:spPr>
          <a:xfrm>
            <a:off x="4593244" y="3725187"/>
            <a:ext cx="31320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CC99FF"/>
                </a:solidFill>
              </a:rPr>
              <a:t>Building responsive interfaces using React, JavaScript, and Bootstrap for an interactive student experience.</a:t>
            </a:r>
          </a:p>
        </p:txBody>
      </p:sp>
      <p:sp>
        <p:nvSpPr>
          <p:cNvPr id="49" name="Freeform 39">
            <a:extLst>
              <a:ext uri="{FF2B5EF4-FFF2-40B4-BE49-F238E27FC236}">
                <a16:creationId xmlns:a16="http://schemas.microsoft.com/office/drawing/2014/main" id="{2F196EE9-47FC-67EC-026D-923EFBD30ABD}"/>
              </a:ext>
            </a:extLst>
          </p:cNvPr>
          <p:cNvSpPr/>
          <p:nvPr/>
        </p:nvSpPr>
        <p:spPr>
          <a:xfrm>
            <a:off x="5613008" y="2388583"/>
            <a:ext cx="1143623" cy="1181247"/>
          </a:xfrm>
          <a:custGeom>
            <a:avLst/>
            <a:gdLst/>
            <a:ahLst/>
            <a:cxnLst/>
            <a:rect l="l" t="t" r="r" b="b"/>
            <a:pathLst>
              <a:path w="1291203" h="1466302">
                <a:moveTo>
                  <a:pt x="0" y="0"/>
                </a:moveTo>
                <a:lnTo>
                  <a:pt x="1291203" y="0"/>
                </a:lnTo>
                <a:lnTo>
                  <a:pt x="1291203" y="1466302"/>
                </a:lnTo>
                <a:lnTo>
                  <a:pt x="0" y="1466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2F0170-5362-E359-9B22-A6314B52493E}"/>
              </a:ext>
            </a:extLst>
          </p:cNvPr>
          <p:cNvSpPr txBox="1"/>
          <p:nvPr/>
        </p:nvSpPr>
        <p:spPr>
          <a:xfrm>
            <a:off x="791159" y="5849689"/>
            <a:ext cx="630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Phase 1: UI/UX Design</a:t>
            </a:r>
          </a:p>
        </p:txBody>
      </p:sp>
    </p:spTree>
    <p:extLst>
      <p:ext uri="{BB962C8B-B14F-4D97-AF65-F5344CB8AC3E}">
        <p14:creationId xmlns:p14="http://schemas.microsoft.com/office/powerpoint/2010/main" val="162789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4" grpId="0" animBg="1"/>
      <p:bldP spid="38" grpId="0"/>
      <p:bldP spid="40" grpId="0"/>
      <p:bldP spid="44" grpId="0" animBg="1"/>
      <p:bldP spid="46" grpId="0"/>
      <p:bldP spid="48" grpId="0"/>
      <p:bldP spid="49" grpId="0" animBg="1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16D4-3E2B-0E14-DE2D-4F967195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5D096-F815-D58E-F3DA-12C2F15EE993}"/>
              </a:ext>
            </a:extLst>
          </p:cNvPr>
          <p:cNvSpPr txBox="1"/>
          <p:nvPr/>
        </p:nvSpPr>
        <p:spPr>
          <a:xfrm rot="10800000" flipV="1">
            <a:off x="1739757" y="891439"/>
            <a:ext cx="8712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Tech Stack &amp; Tools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4C6A82-2D4C-5730-80D5-6ECD812C6CF9}"/>
              </a:ext>
            </a:extLst>
          </p:cNvPr>
          <p:cNvCxnSpPr/>
          <p:nvPr/>
        </p:nvCxnSpPr>
        <p:spPr>
          <a:xfrm>
            <a:off x="444089" y="1968756"/>
            <a:ext cx="1127075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5982E7-3EEA-85F2-B8D1-E810993C8B42}"/>
              </a:ext>
            </a:extLst>
          </p:cNvPr>
          <p:cNvSpPr/>
          <p:nvPr/>
        </p:nvSpPr>
        <p:spPr>
          <a:xfrm>
            <a:off x="7972595" y="5210390"/>
            <a:ext cx="3758780" cy="1256592"/>
          </a:xfrm>
          <a:prstGeom prst="roundRect">
            <a:avLst/>
          </a:prstGeom>
          <a:solidFill>
            <a:srgbClr val="7030A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F9FFF"/>
                </a:solidFill>
              </a:rPr>
              <a:t>MongoDB for flexible and reliable data management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22C480-8681-DCD4-E231-4061E981B5E0}"/>
              </a:ext>
            </a:extLst>
          </p:cNvPr>
          <p:cNvSpPr/>
          <p:nvPr/>
        </p:nvSpPr>
        <p:spPr>
          <a:xfrm>
            <a:off x="7972596" y="3010399"/>
            <a:ext cx="3758779" cy="1256593"/>
          </a:xfrm>
          <a:prstGeom prst="round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F9FFF"/>
                </a:solidFill>
              </a:rPr>
              <a:t>Node.js &amp; Express RESTful APIs for secure operations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B63EA8C7-577D-A447-EA24-2762A7F86898}"/>
              </a:ext>
            </a:extLst>
          </p:cNvPr>
          <p:cNvSpPr/>
          <p:nvPr/>
        </p:nvSpPr>
        <p:spPr>
          <a:xfrm>
            <a:off x="5787960" y="0"/>
            <a:ext cx="6404040" cy="353642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1AB4A8-37FF-FFD8-AEE3-B2A1C2350C3B}"/>
              </a:ext>
            </a:extLst>
          </p:cNvPr>
          <p:cNvSpPr/>
          <p:nvPr/>
        </p:nvSpPr>
        <p:spPr>
          <a:xfrm>
            <a:off x="460624" y="3010399"/>
            <a:ext cx="3758779" cy="1256594"/>
          </a:xfrm>
          <a:prstGeom prst="round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F9FFF"/>
                </a:solidFill>
              </a:rPr>
              <a:t>React.js &amp; JavaScript for interactive user interfaces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6A90A0-2E92-6455-ED2B-5CC1CA855A3C}"/>
              </a:ext>
            </a:extLst>
          </p:cNvPr>
          <p:cNvSpPr/>
          <p:nvPr/>
        </p:nvSpPr>
        <p:spPr>
          <a:xfrm>
            <a:off x="460624" y="5210390"/>
            <a:ext cx="3758779" cy="1256593"/>
          </a:xfrm>
          <a:prstGeom prst="round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F9FFF"/>
                </a:solidFill>
              </a:rPr>
              <a:t>Bootstrap &amp; responsive layout for seamless student experience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E082B-6F56-F5BF-9FFA-D06CF3812263}"/>
              </a:ext>
            </a:extLst>
          </p:cNvPr>
          <p:cNvSpPr txBox="1"/>
          <p:nvPr/>
        </p:nvSpPr>
        <p:spPr>
          <a:xfrm>
            <a:off x="872160" y="2379749"/>
            <a:ext cx="2935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Frontend UI💻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1FE2F-2FAC-F1ED-4E4A-9210BA33AAC6}"/>
              </a:ext>
            </a:extLst>
          </p:cNvPr>
          <p:cNvSpPr txBox="1"/>
          <p:nvPr/>
        </p:nvSpPr>
        <p:spPr>
          <a:xfrm>
            <a:off x="872160" y="4566958"/>
            <a:ext cx="319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Styling &amp; Design🎨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71D88-E64D-63AC-A7C4-FEB7A5CB74AE}"/>
              </a:ext>
            </a:extLst>
          </p:cNvPr>
          <p:cNvSpPr txBox="1"/>
          <p:nvPr/>
        </p:nvSpPr>
        <p:spPr>
          <a:xfrm>
            <a:off x="8271325" y="2379749"/>
            <a:ext cx="334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Backend Server⚙️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721EF-DFDF-2732-BC96-8A6973E81132}"/>
              </a:ext>
            </a:extLst>
          </p:cNvPr>
          <p:cNvSpPr txBox="1"/>
          <p:nvPr/>
        </p:nvSpPr>
        <p:spPr>
          <a:xfrm>
            <a:off x="8749890" y="4566958"/>
            <a:ext cx="23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Database📊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E2B753-7CEF-9F56-F2F2-702ADB82F3ED}"/>
              </a:ext>
            </a:extLst>
          </p:cNvPr>
          <p:cNvCxnSpPr>
            <a:cxnSpLocks/>
          </p:cNvCxnSpPr>
          <p:nvPr/>
        </p:nvCxnSpPr>
        <p:spPr>
          <a:xfrm>
            <a:off x="6085932" y="2428692"/>
            <a:ext cx="0" cy="403829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1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3" grpId="0" animBg="1"/>
      <p:bldP spid="4" grpId="0" animBg="1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B2F5D-580D-4CAF-A255-F7A4C6EC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B71745D-6350-7A91-9CC2-AE6CEE5905A8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DCD54D42-14CD-B809-E5C1-0DA82355B40D}"/>
              </a:ext>
            </a:extLst>
          </p:cNvPr>
          <p:cNvSpPr/>
          <p:nvPr/>
        </p:nvSpPr>
        <p:spPr>
          <a:xfrm>
            <a:off x="200496" y="437051"/>
            <a:ext cx="8726982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b="1" dirty="0">
                <a:solidFill>
                  <a:schemeClr val="bg1"/>
                </a:solidFill>
              </a:rPr>
              <a:t>System Architecture &amp; Request Flow</a:t>
            </a:r>
          </a:p>
        </p:txBody>
      </p:sp>
      <p:grpSp>
        <p:nvGrpSpPr>
          <p:cNvPr id="19" name="Group 31">
            <a:extLst>
              <a:ext uri="{FF2B5EF4-FFF2-40B4-BE49-F238E27FC236}">
                <a16:creationId xmlns:a16="http://schemas.microsoft.com/office/drawing/2014/main" id="{D2BB3796-29BF-DCB8-5574-7BEBB4D6B763}"/>
              </a:ext>
            </a:extLst>
          </p:cNvPr>
          <p:cNvGrpSpPr/>
          <p:nvPr/>
        </p:nvGrpSpPr>
        <p:grpSpPr>
          <a:xfrm>
            <a:off x="200496" y="1818576"/>
            <a:ext cx="3831677" cy="4380092"/>
            <a:chOff x="-13465" y="-47625"/>
            <a:chExt cx="838362" cy="675948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8679AB34-F06D-82FB-3F3F-262095701543}"/>
                </a:ext>
              </a:extLst>
            </p:cNvPr>
            <p:cNvSpPr/>
            <p:nvPr/>
          </p:nvSpPr>
          <p:spPr>
            <a:xfrm>
              <a:off x="-13465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0C9829F2-28C9-5FF5-4A4D-6249699BF7E7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2" name="Group 31">
            <a:extLst>
              <a:ext uri="{FF2B5EF4-FFF2-40B4-BE49-F238E27FC236}">
                <a16:creationId xmlns:a16="http://schemas.microsoft.com/office/drawing/2014/main" id="{21E36795-144D-1118-4015-F7C069FD5FA1}"/>
              </a:ext>
            </a:extLst>
          </p:cNvPr>
          <p:cNvGrpSpPr/>
          <p:nvPr/>
        </p:nvGrpSpPr>
        <p:grpSpPr>
          <a:xfrm>
            <a:off x="4094408" y="2127182"/>
            <a:ext cx="4065422" cy="4071486"/>
            <a:chOff x="0" y="0"/>
            <a:chExt cx="824897" cy="628323"/>
          </a:xfrm>
        </p:grpSpPr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B2414CA-7C56-F2D6-E7DC-49E736FE2AF3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000E2A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83FF1BC9-5CD6-3D24-B5F2-4E3A864120D9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5" name="Group 31">
            <a:extLst>
              <a:ext uri="{FF2B5EF4-FFF2-40B4-BE49-F238E27FC236}">
                <a16:creationId xmlns:a16="http://schemas.microsoft.com/office/drawing/2014/main" id="{CB844DE2-3024-149F-4EF4-1485040CFDC6}"/>
              </a:ext>
            </a:extLst>
          </p:cNvPr>
          <p:cNvGrpSpPr/>
          <p:nvPr/>
        </p:nvGrpSpPr>
        <p:grpSpPr>
          <a:xfrm>
            <a:off x="8293800" y="1818576"/>
            <a:ext cx="3758252" cy="4380092"/>
            <a:chOff x="0" y="-47625"/>
            <a:chExt cx="824897" cy="675948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6FE9C799-F1AC-7638-5E47-5BAA89D5B0E6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000E2A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5D179069-223E-E72F-F6E8-EF36D5E9E27E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DE1B65E-ED08-02E7-64D6-79776F7909A1}"/>
              </a:ext>
            </a:extLst>
          </p:cNvPr>
          <p:cNvSpPr txBox="1"/>
          <p:nvPr/>
        </p:nvSpPr>
        <p:spPr>
          <a:xfrm>
            <a:off x="257768" y="2540470"/>
            <a:ext cx="3366044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​💻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1.Frontend (React): </a:t>
            </a:r>
            <a:endParaRPr lang="ar-EG" sz="2800" b="1" dirty="0">
              <a:solidFill>
                <a:schemeClr val="bg1"/>
              </a:solidFill>
            </a:endParaRPr>
          </a:p>
          <a:p>
            <a:pPr algn="ctr"/>
            <a:endParaRPr lang="ar-EG" sz="3000" b="1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rgbClr val="CC99FF"/>
                </a:solidFill>
              </a:rPr>
              <a:t>User interacts with the responsive UI, triggering actions like login, searching, or submitting internship applications via HTTP requests.</a:t>
            </a:r>
            <a:endParaRPr lang="en-GB" sz="2600" dirty="0">
              <a:solidFill>
                <a:srgbClr val="CC99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265AD-8DC5-61E1-C41D-55D7B4EC4CF7}"/>
              </a:ext>
            </a:extLst>
          </p:cNvPr>
          <p:cNvSpPr txBox="1"/>
          <p:nvPr/>
        </p:nvSpPr>
        <p:spPr>
          <a:xfrm>
            <a:off x="4137563" y="2540470"/>
            <a:ext cx="390446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                 🛠️</a:t>
            </a:r>
          </a:p>
          <a:p>
            <a:r>
              <a:rPr lang="en-GB" sz="2800" b="1" dirty="0">
                <a:solidFill>
                  <a:schemeClr val="bg1"/>
                </a:solidFill>
              </a:rPr>
              <a:t>2.Backend API (Node.js):</a:t>
            </a:r>
            <a:endParaRPr lang="ar-EG" sz="2800" b="1" dirty="0">
              <a:solidFill>
                <a:schemeClr val="bg1"/>
              </a:solidFill>
            </a:endParaRPr>
          </a:p>
          <a:p>
            <a:endParaRPr lang="ar-EG" sz="3000" b="1" dirty="0">
              <a:solidFill>
                <a:schemeClr val="bg1"/>
              </a:solidFill>
            </a:endParaRPr>
          </a:p>
          <a:p>
            <a:pPr algn="ctr"/>
            <a:r>
              <a:rPr lang="en-GB" sz="2600" dirty="0"/>
              <a:t> </a:t>
            </a:r>
            <a:r>
              <a:rPr lang="en-GB" sz="2000" dirty="0">
                <a:solidFill>
                  <a:srgbClr val="CC99FF"/>
                </a:solidFill>
              </a:rPr>
              <a:t>Express server processes incoming  requests, handles authentication tokens, applies business logic, and executes validation rules.</a:t>
            </a:r>
            <a:endParaRPr lang="en-GB" sz="2600" dirty="0">
              <a:solidFill>
                <a:srgbClr val="CC99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FF4A1-1F40-E21E-C851-D434F6098003}"/>
              </a:ext>
            </a:extLst>
          </p:cNvPr>
          <p:cNvSpPr txBox="1"/>
          <p:nvPr/>
        </p:nvSpPr>
        <p:spPr>
          <a:xfrm>
            <a:off x="8293800" y="2532830"/>
            <a:ext cx="387605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3000" b="1" dirty="0">
                <a:solidFill>
                  <a:schemeClr val="bg1"/>
                </a:solidFill>
              </a:rPr>
              <a:t>🗃️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3.Database (MongoDB): </a:t>
            </a:r>
            <a:endParaRPr lang="ar-EG" sz="2800" b="1" dirty="0">
              <a:solidFill>
                <a:schemeClr val="bg1"/>
              </a:solidFill>
            </a:endParaRPr>
          </a:p>
          <a:p>
            <a:pPr algn="ctr"/>
            <a:endParaRPr lang="ar-EG" sz="3000" b="1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rgbClr val="CC99FF"/>
                </a:solidFill>
              </a:rPr>
              <a:t>Mongoose models securely query, store, and update data for users, companies, listings, and applications in real-time collections.</a:t>
            </a:r>
            <a:endParaRPr lang="en-GB" sz="2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24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">
            <a:extLst>
              <a:ext uri="{FF2B5EF4-FFF2-40B4-BE49-F238E27FC236}">
                <a16:creationId xmlns:a16="http://schemas.microsoft.com/office/drawing/2014/main" id="{7CA1D65A-BCB9-DAE5-76B8-D2B128BA099E}"/>
              </a:ext>
            </a:extLst>
          </p:cNvPr>
          <p:cNvSpPr/>
          <p:nvPr/>
        </p:nvSpPr>
        <p:spPr>
          <a:xfrm>
            <a:off x="132080" y="75938"/>
            <a:ext cx="12059919" cy="6706123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6D027540-5DAE-C501-7E2D-E1293AA5EC1C}"/>
              </a:ext>
            </a:extLst>
          </p:cNvPr>
          <p:cNvSpPr/>
          <p:nvPr/>
        </p:nvSpPr>
        <p:spPr>
          <a:xfrm>
            <a:off x="6685742" y="75938"/>
            <a:ext cx="5506257" cy="6706123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0" name="Freeform 32">
            <a:extLst>
              <a:ext uri="{FF2B5EF4-FFF2-40B4-BE49-F238E27FC236}">
                <a16:creationId xmlns:a16="http://schemas.microsoft.com/office/drawing/2014/main" id="{F56BC3B2-E1B1-D704-4EDB-E16A5A642D1D}"/>
              </a:ext>
            </a:extLst>
          </p:cNvPr>
          <p:cNvSpPr/>
          <p:nvPr/>
        </p:nvSpPr>
        <p:spPr>
          <a:xfrm>
            <a:off x="230155" y="1491305"/>
            <a:ext cx="6273282" cy="4951484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en-US" dirty="0">
              <a:solidFill>
                <a:srgbClr val="CF9FFF"/>
              </a:solidFill>
            </a:endParaRPr>
          </a:p>
        </p:txBody>
      </p:sp>
      <p:sp>
        <p:nvSpPr>
          <p:cNvPr id="8" name="Freeform 32">
            <a:extLst>
              <a:ext uri="{FF2B5EF4-FFF2-40B4-BE49-F238E27FC236}">
                <a16:creationId xmlns:a16="http://schemas.microsoft.com/office/drawing/2014/main" id="{0B246DF2-89D6-B0D5-38D5-9329B6B6EF53}"/>
              </a:ext>
            </a:extLst>
          </p:cNvPr>
          <p:cNvSpPr/>
          <p:nvPr/>
        </p:nvSpPr>
        <p:spPr>
          <a:xfrm>
            <a:off x="6858000" y="328903"/>
            <a:ext cx="5103845" cy="6200193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CD63E-42EB-F4BB-46C4-23C8A5ABB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845" y="543508"/>
            <a:ext cx="4618153" cy="5770982"/>
          </a:xfrm>
          <a:prstGeom prst="roundRect">
            <a:avLst>
              <a:gd name="adj" fmla="val 2367"/>
            </a:avLst>
          </a:prstGeom>
        </p:spPr>
      </p:pic>
      <p:sp>
        <p:nvSpPr>
          <p:cNvPr id="9" name="Freeform 32">
            <a:extLst>
              <a:ext uri="{FF2B5EF4-FFF2-40B4-BE49-F238E27FC236}">
                <a16:creationId xmlns:a16="http://schemas.microsoft.com/office/drawing/2014/main" id="{AC2FFD9D-7DD0-4E00-84A5-6E8FDB1988EB}"/>
              </a:ext>
            </a:extLst>
          </p:cNvPr>
          <p:cNvSpPr/>
          <p:nvPr/>
        </p:nvSpPr>
        <p:spPr>
          <a:xfrm>
            <a:off x="314130" y="331235"/>
            <a:ext cx="5368212" cy="938543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pPr algn="ctr"/>
            <a:endParaRPr lang="en-GB" sz="4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B3C48-35F0-ED2E-B5D1-E174DB6763E0}"/>
              </a:ext>
            </a:extLst>
          </p:cNvPr>
          <p:cNvSpPr txBox="1"/>
          <p:nvPr/>
        </p:nvSpPr>
        <p:spPr>
          <a:xfrm>
            <a:off x="722724" y="1825357"/>
            <a:ext cx="5029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We used React Router to navigate between the pages of the website.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E80CD3-43D0-9B80-388C-22C774E6D9EF}"/>
              </a:ext>
            </a:extLst>
          </p:cNvPr>
          <p:cNvSpPr txBox="1"/>
          <p:nvPr/>
        </p:nvSpPr>
        <p:spPr>
          <a:xfrm>
            <a:off x="722724" y="2556588"/>
            <a:ext cx="52484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The Home Page / contains the main components such as Hero, Categories, Internships, and Profile.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B3E63C-B52C-3003-1686-7D361C007933}"/>
              </a:ext>
            </a:extLst>
          </p:cNvPr>
          <p:cNvSpPr txBox="1"/>
          <p:nvPr/>
        </p:nvSpPr>
        <p:spPr>
          <a:xfrm>
            <a:off x="722724" y="3244333"/>
            <a:ext cx="386287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Each page has its own route, such as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7A4B7-2CBA-DFFC-530C-A42E045DF894}"/>
              </a:ext>
            </a:extLst>
          </p:cNvPr>
          <p:cNvSpPr txBox="1"/>
          <p:nvPr/>
        </p:nvSpPr>
        <p:spPr>
          <a:xfrm>
            <a:off x="722724" y="3655079"/>
            <a:ext cx="3564294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. "/internships“</a:t>
            </a:r>
          </a:p>
          <a:p>
            <a:r>
              <a:rPr lang="en-US" sz="1900" dirty="0">
                <a:solidFill>
                  <a:srgbClr val="CF9FFF"/>
                </a:solidFill>
              </a:rPr>
              <a:t>. "/applications“</a:t>
            </a:r>
          </a:p>
          <a:p>
            <a:r>
              <a:rPr lang="en-US" sz="1900" dirty="0">
                <a:solidFill>
                  <a:srgbClr val="CF9FFF"/>
                </a:solidFill>
              </a:rPr>
              <a:t>. "/post“</a:t>
            </a:r>
          </a:p>
          <a:p>
            <a:r>
              <a:rPr lang="en-US" sz="1900" dirty="0">
                <a:solidFill>
                  <a:srgbClr val="CF9FFF"/>
                </a:solidFill>
              </a:rPr>
              <a:t>. "/login“</a:t>
            </a:r>
          </a:p>
          <a:p>
            <a:r>
              <a:rPr lang="en-US" sz="1900" dirty="0">
                <a:solidFill>
                  <a:srgbClr val="CF9FFF"/>
                </a:solidFill>
              </a:rPr>
              <a:t>. "/signup“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70E3C-7884-CF96-3243-30AC15666BAA}"/>
              </a:ext>
            </a:extLst>
          </p:cNvPr>
          <p:cNvSpPr txBox="1"/>
          <p:nvPr/>
        </p:nvSpPr>
        <p:spPr>
          <a:xfrm>
            <a:off x="722724" y="5282720"/>
            <a:ext cx="54704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We also used an Error Route to display the Error Page when the user enters an invalid URL.</a:t>
            </a:r>
            <a:endParaRPr lang="en-GB" sz="1900" dirty="0">
              <a:solidFill>
                <a:srgbClr val="CF9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A0AFEB-7FB6-B4D2-CB49-958AAC543A42}"/>
              </a:ext>
            </a:extLst>
          </p:cNvPr>
          <p:cNvSpPr txBox="1"/>
          <p:nvPr/>
        </p:nvSpPr>
        <p:spPr>
          <a:xfrm>
            <a:off x="680830" y="377915"/>
            <a:ext cx="4634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</a:rPr>
              <a:t>Frontend Routes</a:t>
            </a:r>
          </a:p>
        </p:txBody>
      </p:sp>
    </p:spTree>
    <p:extLst>
      <p:ext uri="{BB962C8B-B14F-4D97-AF65-F5344CB8AC3E}">
        <p14:creationId xmlns:p14="http://schemas.microsoft.com/office/powerpoint/2010/main" val="33250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3" grpId="0"/>
      <p:bldP spid="14" grpId="0"/>
      <p:bldP spid="15" grpId="0"/>
      <p:bldP spid="16" grpId="0"/>
      <p:bldP spid="17" grpId="0"/>
      <p:bldP spid="19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E9DD-4890-4DA3-C99B-CD465F37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>
            <a:extLst>
              <a:ext uri="{FF2B5EF4-FFF2-40B4-BE49-F238E27FC236}">
                <a16:creationId xmlns:a16="http://schemas.microsoft.com/office/drawing/2014/main" id="{AAF4961A-5784-D07A-9008-27DA045F5883}"/>
              </a:ext>
            </a:extLst>
          </p:cNvPr>
          <p:cNvSpPr/>
          <p:nvPr/>
        </p:nvSpPr>
        <p:spPr>
          <a:xfrm>
            <a:off x="6685742" y="75938"/>
            <a:ext cx="5506257" cy="6706123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1" name="Freeform 2">
            <a:extLst>
              <a:ext uri="{FF2B5EF4-FFF2-40B4-BE49-F238E27FC236}">
                <a16:creationId xmlns:a16="http://schemas.microsoft.com/office/drawing/2014/main" id="{0B8AF6F2-4DF1-24B5-8274-96AE134D20C7}"/>
              </a:ext>
            </a:extLst>
          </p:cNvPr>
          <p:cNvSpPr/>
          <p:nvPr/>
        </p:nvSpPr>
        <p:spPr>
          <a:xfrm>
            <a:off x="-81280" y="111760"/>
            <a:ext cx="12273279" cy="6670301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0" name="Freeform 32">
            <a:extLst>
              <a:ext uri="{FF2B5EF4-FFF2-40B4-BE49-F238E27FC236}">
                <a16:creationId xmlns:a16="http://schemas.microsoft.com/office/drawing/2014/main" id="{488D767F-7040-86D8-FE83-154CBB8C9E8D}"/>
              </a:ext>
            </a:extLst>
          </p:cNvPr>
          <p:cNvSpPr/>
          <p:nvPr/>
        </p:nvSpPr>
        <p:spPr>
          <a:xfrm>
            <a:off x="230155" y="1491305"/>
            <a:ext cx="6273282" cy="4594535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en-US" dirty="0">
              <a:solidFill>
                <a:srgbClr val="CF9FFF"/>
              </a:solidFill>
            </a:endParaRPr>
          </a:p>
        </p:txBody>
      </p:sp>
      <p:sp>
        <p:nvSpPr>
          <p:cNvPr id="8" name="Freeform 32">
            <a:extLst>
              <a:ext uri="{FF2B5EF4-FFF2-40B4-BE49-F238E27FC236}">
                <a16:creationId xmlns:a16="http://schemas.microsoft.com/office/drawing/2014/main" id="{080DE11E-D764-4A1C-D876-B2D015EA4B69}"/>
              </a:ext>
            </a:extLst>
          </p:cNvPr>
          <p:cNvSpPr/>
          <p:nvPr/>
        </p:nvSpPr>
        <p:spPr>
          <a:xfrm>
            <a:off x="6736080" y="1134356"/>
            <a:ext cx="5368212" cy="4951484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8AD359D0-AE48-0EE1-D099-35330ECB2FB2}"/>
              </a:ext>
            </a:extLst>
          </p:cNvPr>
          <p:cNvSpPr/>
          <p:nvPr/>
        </p:nvSpPr>
        <p:spPr>
          <a:xfrm>
            <a:off x="314130" y="331235"/>
            <a:ext cx="5368212" cy="938543"/>
          </a:xfrm>
          <a:custGeom>
            <a:avLst/>
            <a:gdLst/>
            <a:ahLst/>
            <a:cxnLst/>
            <a:rect l="l" t="t" r="r" b="b"/>
            <a:pathLst>
              <a:path w="824897" h="628323">
                <a:moveTo>
                  <a:pt x="34606" y="0"/>
                </a:moveTo>
                <a:lnTo>
                  <a:pt x="790291" y="0"/>
                </a:lnTo>
                <a:cubicBezTo>
                  <a:pt x="809403" y="0"/>
                  <a:pt x="824897" y="15494"/>
                  <a:pt x="824897" y="34606"/>
                </a:cubicBezTo>
                <a:lnTo>
                  <a:pt x="824897" y="593717"/>
                </a:lnTo>
                <a:cubicBezTo>
                  <a:pt x="824897" y="602895"/>
                  <a:pt x="821251" y="611697"/>
                  <a:pt x="814761" y="618187"/>
                </a:cubicBezTo>
                <a:cubicBezTo>
                  <a:pt x="808271" y="624677"/>
                  <a:pt x="799469" y="628323"/>
                  <a:pt x="790291" y="628323"/>
                </a:cubicBezTo>
                <a:lnTo>
                  <a:pt x="34606" y="628323"/>
                </a:lnTo>
                <a:cubicBezTo>
                  <a:pt x="15494" y="628323"/>
                  <a:pt x="0" y="612829"/>
                  <a:pt x="0" y="593717"/>
                </a:cubicBezTo>
                <a:lnTo>
                  <a:pt x="0" y="34606"/>
                </a:lnTo>
                <a:cubicBezTo>
                  <a:pt x="0" y="15494"/>
                  <a:pt x="15494" y="0"/>
                  <a:pt x="34606" y="0"/>
                </a:cubicBez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pPr algn="ctr"/>
            <a:endParaRPr lang="en-GB" sz="4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3AEF1-78DD-3110-4971-C93EF1BC4374}"/>
              </a:ext>
            </a:extLst>
          </p:cNvPr>
          <p:cNvSpPr txBox="1"/>
          <p:nvPr/>
        </p:nvSpPr>
        <p:spPr>
          <a:xfrm>
            <a:off x="722724" y="1825357"/>
            <a:ext cx="5029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We used Express Router to organize the API routes.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EE482-8ED3-BC25-542D-A3C3615FC140}"/>
              </a:ext>
            </a:extLst>
          </p:cNvPr>
          <p:cNvSpPr txBox="1"/>
          <p:nvPr/>
        </p:nvSpPr>
        <p:spPr>
          <a:xfrm>
            <a:off x="722724" y="2502465"/>
            <a:ext cx="5655216" cy="2239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CF9FFF"/>
                </a:solidFill>
              </a:rPr>
              <a:t>. POST / → Apply for an internship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CF9FFF"/>
                </a:solidFill>
              </a:rPr>
              <a:t>. GET /my → Display the user's applications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CF9FFF"/>
                </a:solidFill>
              </a:rPr>
              <a:t>. GET /internship/:id → Display applications for a specific internship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rgbClr val="CF9FFF"/>
                </a:solidFill>
              </a:rPr>
              <a:t>. PATCH /:id/status → Update the application status.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0EAB89-4D10-B396-6769-C994BA74C933}"/>
              </a:ext>
            </a:extLst>
          </p:cNvPr>
          <p:cNvSpPr txBox="1"/>
          <p:nvPr/>
        </p:nvSpPr>
        <p:spPr>
          <a:xfrm>
            <a:off x="692244" y="4892040"/>
            <a:ext cx="56552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CF9FFF"/>
                </a:solidFill>
              </a:rPr>
              <a:t>We also used Protect Middleware to secure the routes and make sure that the user is logged 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F31DE-9E9A-2714-F92A-6915AF953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28" y="1449312"/>
            <a:ext cx="4758787" cy="4346277"/>
          </a:xfrm>
          <a:prstGeom prst="roundRect">
            <a:avLst>
              <a:gd name="adj" fmla="val 4278"/>
            </a:avLst>
          </a:prstGeom>
        </p:spPr>
      </p:pic>
      <p:sp>
        <p:nvSpPr>
          <p:cNvPr id="6" name="Arrow: Bent-Up 5">
            <a:extLst>
              <a:ext uri="{FF2B5EF4-FFF2-40B4-BE49-F238E27FC236}">
                <a16:creationId xmlns:a16="http://schemas.microsoft.com/office/drawing/2014/main" id="{559003E4-95B3-4C5D-3E93-7A1EF819144F}"/>
              </a:ext>
            </a:extLst>
          </p:cNvPr>
          <p:cNvSpPr/>
          <p:nvPr/>
        </p:nvSpPr>
        <p:spPr>
          <a:xfrm rot="10800000" flipH="1">
            <a:off x="5889586" y="530161"/>
            <a:ext cx="3530600" cy="454591"/>
          </a:xfrm>
          <a:prstGeom prst="bentUpArrow">
            <a:avLst>
              <a:gd name="adj1" fmla="val 29899"/>
              <a:gd name="adj2" fmla="val 25000"/>
              <a:gd name="adj3" fmla="val 25000"/>
            </a:avLst>
          </a:prstGeom>
          <a:solidFill>
            <a:srgbClr val="CF9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F50E5-C553-173E-DFBB-003ADC2FD2B1}"/>
              </a:ext>
            </a:extLst>
          </p:cNvPr>
          <p:cNvSpPr txBox="1"/>
          <p:nvPr/>
        </p:nvSpPr>
        <p:spPr>
          <a:xfrm>
            <a:off x="926114" y="389621"/>
            <a:ext cx="41442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</a:rPr>
              <a:t>Backend Routes</a:t>
            </a:r>
          </a:p>
        </p:txBody>
      </p:sp>
    </p:spTree>
    <p:extLst>
      <p:ext uri="{BB962C8B-B14F-4D97-AF65-F5344CB8AC3E}">
        <p14:creationId xmlns:p14="http://schemas.microsoft.com/office/powerpoint/2010/main" val="377147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  <p:bldP spid="13" grpId="0"/>
      <p:bldP spid="16" grpId="0"/>
      <p:bldP spid="2" grpId="0"/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3014-EA6E-E725-4C51-DF29CBB5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882CC4BF-D6A7-F4A1-5FD1-B15DF8B2F216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4B767C77-1B38-D6BC-3BAF-03E77703B34E}"/>
              </a:ext>
            </a:extLst>
          </p:cNvPr>
          <p:cNvSpPr/>
          <p:nvPr/>
        </p:nvSpPr>
        <p:spPr>
          <a:xfrm>
            <a:off x="77343" y="538104"/>
            <a:ext cx="8726982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b="1" dirty="0">
                <a:solidFill>
                  <a:schemeClr val="bg1"/>
                </a:solidFill>
              </a:rPr>
              <a:t>Database Schema &amp; Collections</a:t>
            </a:r>
          </a:p>
        </p:txBody>
      </p:sp>
      <p:grpSp>
        <p:nvGrpSpPr>
          <p:cNvPr id="19" name="Group 31">
            <a:extLst>
              <a:ext uri="{FF2B5EF4-FFF2-40B4-BE49-F238E27FC236}">
                <a16:creationId xmlns:a16="http://schemas.microsoft.com/office/drawing/2014/main" id="{5A8D8AAC-89DE-14A0-26EE-2B42D0552860}"/>
              </a:ext>
            </a:extLst>
          </p:cNvPr>
          <p:cNvGrpSpPr/>
          <p:nvPr/>
        </p:nvGrpSpPr>
        <p:grpSpPr>
          <a:xfrm>
            <a:off x="80134" y="1818576"/>
            <a:ext cx="3952039" cy="4380092"/>
            <a:chOff x="-39800" y="-47625"/>
            <a:chExt cx="864697" cy="675948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BAB47262-5915-523F-773A-2EFF90FF3238}"/>
                </a:ext>
              </a:extLst>
            </p:cNvPr>
            <p:cNvSpPr/>
            <p:nvPr/>
          </p:nvSpPr>
          <p:spPr>
            <a:xfrm>
              <a:off x="-3980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000E2A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D359AFB1-EB8F-7CE3-8DFE-6BA18119E0BC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2" name="Group 31">
            <a:extLst>
              <a:ext uri="{FF2B5EF4-FFF2-40B4-BE49-F238E27FC236}">
                <a16:creationId xmlns:a16="http://schemas.microsoft.com/office/drawing/2014/main" id="{94CD2E3F-AFCB-BE97-9B36-75AA410A7B86}"/>
              </a:ext>
            </a:extLst>
          </p:cNvPr>
          <p:cNvGrpSpPr/>
          <p:nvPr/>
        </p:nvGrpSpPr>
        <p:grpSpPr>
          <a:xfrm>
            <a:off x="3995411" y="2127182"/>
            <a:ext cx="4114177" cy="4071486"/>
            <a:chOff x="0" y="0"/>
            <a:chExt cx="824897" cy="628323"/>
          </a:xfrm>
        </p:grpSpPr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DDD97D9C-FC57-1BAE-666E-F5D663E12D38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2EDC3DBA-8B3E-6B0E-69B1-6FAAE413391C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5" name="Group 31">
            <a:extLst>
              <a:ext uri="{FF2B5EF4-FFF2-40B4-BE49-F238E27FC236}">
                <a16:creationId xmlns:a16="http://schemas.microsoft.com/office/drawing/2014/main" id="{06AF7729-B04D-276C-9E2C-D323EFE7CAC3}"/>
              </a:ext>
            </a:extLst>
          </p:cNvPr>
          <p:cNvGrpSpPr/>
          <p:nvPr/>
        </p:nvGrpSpPr>
        <p:grpSpPr>
          <a:xfrm>
            <a:off x="8168292" y="1818576"/>
            <a:ext cx="3943574" cy="4380092"/>
            <a:chOff x="0" y="-47625"/>
            <a:chExt cx="824897" cy="675948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31A38F28-73C7-C61B-5876-B14EDE907CBD}"/>
                </a:ext>
              </a:extLst>
            </p:cNvPr>
            <p:cNvSpPr/>
            <p:nvPr/>
          </p:nvSpPr>
          <p:spPr>
            <a:xfrm>
              <a:off x="19851" y="0"/>
              <a:ext cx="805046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000E2A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8F93EB4F-9150-D132-B534-A583FFA4098F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D90020-05FA-760C-1900-762AC2B2C5EA}"/>
              </a:ext>
            </a:extLst>
          </p:cNvPr>
          <p:cNvSpPr txBox="1"/>
          <p:nvPr/>
        </p:nvSpPr>
        <p:spPr>
          <a:xfrm>
            <a:off x="203333" y="2225328"/>
            <a:ext cx="336604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👤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1. Users Collection</a:t>
            </a: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r>
              <a:rPr lang="en-GB" sz="2800" dirty="0"/>
              <a:t>​</a:t>
            </a:r>
            <a:r>
              <a:rPr lang="en-GB" sz="2000" b="1" dirty="0">
                <a:solidFill>
                  <a:schemeClr val="bg1"/>
                </a:solidFill>
              </a:rPr>
              <a:t>Fields: </a:t>
            </a:r>
            <a:r>
              <a:rPr lang="en-GB" sz="2000" dirty="0">
                <a:solidFill>
                  <a:srgbClr val="CC99FF"/>
                </a:solidFill>
              </a:rPr>
              <a:t>name, email, password, role (Student / Company) </a:t>
            </a:r>
          </a:p>
          <a:p>
            <a:pPr algn="ctr"/>
            <a:endParaRPr lang="en-GB" sz="2000" dirty="0"/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Purpose: </a:t>
            </a:r>
            <a:r>
              <a:rPr lang="en-GB" sz="2000" dirty="0">
                <a:solidFill>
                  <a:srgbClr val="CC99FF"/>
                </a:solidFill>
              </a:rPr>
              <a:t>Manages user registration, authentication, and role-based permissions securely.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3D36B-6313-8161-F27A-EE399E6157FB}"/>
              </a:ext>
            </a:extLst>
          </p:cNvPr>
          <p:cNvSpPr txBox="1"/>
          <p:nvPr/>
        </p:nvSpPr>
        <p:spPr>
          <a:xfrm>
            <a:off x="4082839" y="2296742"/>
            <a:ext cx="402632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💼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2. Internships Collection</a:t>
            </a: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​</a:t>
            </a:r>
            <a:r>
              <a:rPr lang="en-GB" sz="2000" b="1" dirty="0">
                <a:solidFill>
                  <a:schemeClr val="bg1"/>
                </a:solidFill>
              </a:rPr>
              <a:t>Fields: </a:t>
            </a:r>
            <a:r>
              <a:rPr lang="en-GB" sz="2000" dirty="0">
                <a:solidFill>
                  <a:srgbClr val="CC99FF"/>
                </a:solidFill>
              </a:rPr>
              <a:t>title, companyId, description, techStack, location, duration.</a:t>
            </a:r>
          </a:p>
          <a:p>
            <a:pPr algn="ctr"/>
            <a:endParaRPr lang="en-GB" sz="2000" b="1" dirty="0">
              <a:solidFill>
                <a:schemeClr val="bg1"/>
              </a:solidFill>
            </a:endParaRPr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​Purpose: </a:t>
            </a:r>
            <a:r>
              <a:rPr lang="en-GB" sz="2000" dirty="0">
                <a:solidFill>
                  <a:srgbClr val="CC99FF"/>
                </a:solidFill>
              </a:rPr>
              <a:t>Stores all internship listings and opportunities posted by companies.</a:t>
            </a:r>
            <a:endParaRPr lang="en-GB" sz="2000" i="1" dirty="0">
              <a:solidFill>
                <a:srgbClr val="CC99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3BAD97-14EA-1B7A-FA19-82B5F176878E}"/>
              </a:ext>
            </a:extLst>
          </p:cNvPr>
          <p:cNvSpPr txBox="1"/>
          <p:nvPr/>
        </p:nvSpPr>
        <p:spPr>
          <a:xfrm>
            <a:off x="8226996" y="2286884"/>
            <a:ext cx="39435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dirty="0"/>
              <a:t>​📋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3.Applications Collection</a:t>
            </a:r>
          </a:p>
          <a:p>
            <a:pPr algn="ctr"/>
            <a:r>
              <a:rPr lang="en-GB" sz="2800" b="1" dirty="0"/>
              <a:t>​</a:t>
            </a:r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Fields: </a:t>
            </a:r>
            <a:r>
              <a:rPr lang="en-GB" sz="2000" dirty="0">
                <a:solidFill>
                  <a:srgbClr val="CC99FF"/>
                </a:solidFill>
              </a:rPr>
              <a:t>studentId, internshipId, status (Pending / Accepted / Rejected), appliedAt</a:t>
            </a:r>
          </a:p>
          <a:p>
            <a:pPr algn="ctr"/>
            <a:endParaRPr lang="en-GB" sz="2000" dirty="0"/>
          </a:p>
          <a:p>
            <a:pPr algn="ctr"/>
            <a:r>
              <a:rPr lang="en-GB" sz="2000" dirty="0"/>
              <a:t>​</a:t>
            </a:r>
            <a:r>
              <a:rPr lang="en-GB" sz="2000" b="1" dirty="0">
                <a:solidFill>
                  <a:schemeClr val="bg1"/>
                </a:solidFill>
              </a:rPr>
              <a:t>Purpose: </a:t>
            </a:r>
            <a:r>
              <a:rPr lang="en-GB" sz="2000" dirty="0">
                <a:solidFill>
                  <a:srgbClr val="CC99FF"/>
                </a:solidFill>
              </a:rPr>
              <a:t>Tracks student applications, real-time status updates, and history.</a:t>
            </a:r>
          </a:p>
        </p:txBody>
      </p:sp>
    </p:spTree>
    <p:extLst>
      <p:ext uri="{BB962C8B-B14F-4D97-AF65-F5344CB8AC3E}">
        <p14:creationId xmlns:p14="http://schemas.microsoft.com/office/powerpoint/2010/main" val="22191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93FD-A867-130B-F636-6889A76F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AF42D4B-9D9A-169B-D647-32D52E62A865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652A79D4-5DA4-4469-D444-03DF734EFDDF}"/>
              </a:ext>
            </a:extLst>
          </p:cNvPr>
          <p:cNvSpPr/>
          <p:nvPr/>
        </p:nvSpPr>
        <p:spPr>
          <a:xfrm>
            <a:off x="2435192" y="703128"/>
            <a:ext cx="7565456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​Core Features &amp; Functionality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4F19C-8816-E738-261B-7F43B6D3D985}"/>
              </a:ext>
            </a:extLst>
          </p:cNvPr>
          <p:cNvSpPr txBox="1"/>
          <p:nvPr/>
        </p:nvSpPr>
        <p:spPr>
          <a:xfrm>
            <a:off x="3491131" y="1666139"/>
            <a:ext cx="5505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​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7800C46-576B-8041-E248-A84FF59E10C1}"/>
              </a:ext>
            </a:extLst>
          </p:cNvPr>
          <p:cNvGrpSpPr/>
          <p:nvPr/>
        </p:nvGrpSpPr>
        <p:grpSpPr>
          <a:xfrm>
            <a:off x="1820315" y="1836890"/>
            <a:ext cx="10058401" cy="1040635"/>
            <a:chOff x="0" y="0"/>
            <a:chExt cx="3169600" cy="464454"/>
          </a:xfrm>
          <a:solidFill>
            <a:srgbClr val="7030A0"/>
          </a:solidFill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4FD7E3F2-ABBD-1868-08CB-0CDE698CE15D}"/>
                </a:ext>
              </a:extLst>
            </p:cNvPr>
            <p:cNvSpPr/>
            <p:nvPr/>
          </p:nvSpPr>
          <p:spPr>
            <a:xfrm>
              <a:off x="0" y="0"/>
              <a:ext cx="3169600" cy="464454"/>
            </a:xfrm>
            <a:custGeom>
              <a:avLst/>
              <a:gdLst/>
              <a:ahLst/>
              <a:cxnLst/>
              <a:rect l="l" t="t" r="r" b="b"/>
              <a:pathLst>
                <a:path w="3169600" h="464454">
                  <a:moveTo>
                    <a:pt x="32165" y="0"/>
                  </a:moveTo>
                  <a:lnTo>
                    <a:pt x="3137435" y="0"/>
                  </a:lnTo>
                  <a:cubicBezTo>
                    <a:pt x="3145966" y="0"/>
                    <a:pt x="3154147" y="3389"/>
                    <a:pt x="3160179" y="9421"/>
                  </a:cubicBezTo>
                  <a:cubicBezTo>
                    <a:pt x="3166212" y="15453"/>
                    <a:pt x="3169600" y="23635"/>
                    <a:pt x="3169600" y="32165"/>
                  </a:cubicBezTo>
                  <a:lnTo>
                    <a:pt x="3169600" y="432289"/>
                  </a:lnTo>
                  <a:cubicBezTo>
                    <a:pt x="3169600" y="440819"/>
                    <a:pt x="3166212" y="449001"/>
                    <a:pt x="3160179" y="455033"/>
                  </a:cubicBezTo>
                  <a:cubicBezTo>
                    <a:pt x="3154147" y="461065"/>
                    <a:pt x="3145966" y="464454"/>
                    <a:pt x="3137435" y="464454"/>
                  </a:cubicBezTo>
                  <a:lnTo>
                    <a:pt x="32165" y="464454"/>
                  </a:lnTo>
                  <a:cubicBezTo>
                    <a:pt x="23635" y="464454"/>
                    <a:pt x="15453" y="461065"/>
                    <a:pt x="9421" y="455033"/>
                  </a:cubicBezTo>
                  <a:cubicBezTo>
                    <a:pt x="3389" y="449001"/>
                    <a:pt x="0" y="440819"/>
                    <a:pt x="0" y="432289"/>
                  </a:cubicBezTo>
                  <a:lnTo>
                    <a:pt x="0" y="32165"/>
                  </a:lnTo>
                  <a:cubicBezTo>
                    <a:pt x="0" y="23635"/>
                    <a:pt x="3389" y="15453"/>
                    <a:pt x="9421" y="9421"/>
                  </a:cubicBezTo>
                  <a:cubicBezTo>
                    <a:pt x="15453" y="3389"/>
                    <a:pt x="23635" y="0"/>
                    <a:pt x="3216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E9EB193D-E0CA-21C9-1604-FE5D3BC5C1EA}"/>
                </a:ext>
              </a:extLst>
            </p:cNvPr>
            <p:cNvSpPr txBox="1"/>
            <p:nvPr/>
          </p:nvSpPr>
          <p:spPr>
            <a:xfrm>
              <a:off x="0" y="-38100"/>
              <a:ext cx="3169600" cy="502554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A42DDD77-292F-05BE-027A-7A8D871F3997}"/>
              </a:ext>
            </a:extLst>
          </p:cNvPr>
          <p:cNvGrpSpPr/>
          <p:nvPr/>
        </p:nvGrpSpPr>
        <p:grpSpPr>
          <a:xfrm>
            <a:off x="1172400" y="3026067"/>
            <a:ext cx="10501162" cy="1048514"/>
            <a:chOff x="0" y="0"/>
            <a:chExt cx="3169600" cy="464454"/>
          </a:xfrm>
          <a:solidFill>
            <a:srgbClr val="7030A0"/>
          </a:solidFill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A69C68F2-798E-AF0E-9692-8AEE63EB0D18}"/>
                </a:ext>
              </a:extLst>
            </p:cNvPr>
            <p:cNvSpPr/>
            <p:nvPr/>
          </p:nvSpPr>
          <p:spPr>
            <a:xfrm>
              <a:off x="0" y="0"/>
              <a:ext cx="3169600" cy="464454"/>
            </a:xfrm>
            <a:custGeom>
              <a:avLst/>
              <a:gdLst/>
              <a:ahLst/>
              <a:cxnLst/>
              <a:rect l="l" t="t" r="r" b="b"/>
              <a:pathLst>
                <a:path w="3169600" h="464454">
                  <a:moveTo>
                    <a:pt x="32165" y="0"/>
                  </a:moveTo>
                  <a:lnTo>
                    <a:pt x="3137435" y="0"/>
                  </a:lnTo>
                  <a:cubicBezTo>
                    <a:pt x="3145966" y="0"/>
                    <a:pt x="3154147" y="3389"/>
                    <a:pt x="3160179" y="9421"/>
                  </a:cubicBezTo>
                  <a:cubicBezTo>
                    <a:pt x="3166212" y="15453"/>
                    <a:pt x="3169600" y="23635"/>
                    <a:pt x="3169600" y="32165"/>
                  </a:cubicBezTo>
                  <a:lnTo>
                    <a:pt x="3169600" y="432289"/>
                  </a:lnTo>
                  <a:cubicBezTo>
                    <a:pt x="3169600" y="440819"/>
                    <a:pt x="3166212" y="449001"/>
                    <a:pt x="3160179" y="455033"/>
                  </a:cubicBezTo>
                  <a:cubicBezTo>
                    <a:pt x="3154147" y="461065"/>
                    <a:pt x="3145966" y="464454"/>
                    <a:pt x="3137435" y="464454"/>
                  </a:cubicBezTo>
                  <a:lnTo>
                    <a:pt x="32165" y="464454"/>
                  </a:lnTo>
                  <a:cubicBezTo>
                    <a:pt x="23635" y="464454"/>
                    <a:pt x="15453" y="461065"/>
                    <a:pt x="9421" y="455033"/>
                  </a:cubicBezTo>
                  <a:cubicBezTo>
                    <a:pt x="3389" y="449001"/>
                    <a:pt x="0" y="440819"/>
                    <a:pt x="0" y="432289"/>
                  </a:cubicBezTo>
                  <a:lnTo>
                    <a:pt x="0" y="32165"/>
                  </a:lnTo>
                  <a:cubicBezTo>
                    <a:pt x="0" y="23635"/>
                    <a:pt x="3389" y="15453"/>
                    <a:pt x="9421" y="9421"/>
                  </a:cubicBezTo>
                  <a:cubicBezTo>
                    <a:pt x="15453" y="3389"/>
                    <a:pt x="23635" y="0"/>
                    <a:pt x="3216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11948B16-593C-A5ED-136E-6CFD9BAC5F08}"/>
                </a:ext>
              </a:extLst>
            </p:cNvPr>
            <p:cNvSpPr txBox="1"/>
            <p:nvPr/>
          </p:nvSpPr>
          <p:spPr>
            <a:xfrm>
              <a:off x="0" y="-38100"/>
              <a:ext cx="3169600" cy="50255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8">
            <a:extLst>
              <a:ext uri="{FF2B5EF4-FFF2-40B4-BE49-F238E27FC236}">
                <a16:creationId xmlns:a16="http://schemas.microsoft.com/office/drawing/2014/main" id="{1E23BF27-BCD0-E74A-33C4-E7D986B11CE0}"/>
              </a:ext>
            </a:extLst>
          </p:cNvPr>
          <p:cNvGrpSpPr/>
          <p:nvPr/>
        </p:nvGrpSpPr>
        <p:grpSpPr>
          <a:xfrm>
            <a:off x="536172" y="4233128"/>
            <a:ext cx="10795607" cy="1134525"/>
            <a:chOff x="0" y="0"/>
            <a:chExt cx="3169600" cy="464454"/>
          </a:xfrm>
          <a:solidFill>
            <a:srgbClr val="7030A0"/>
          </a:solidFill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A8379490-A2DA-D392-2FA3-49769BF33F4F}"/>
                </a:ext>
              </a:extLst>
            </p:cNvPr>
            <p:cNvSpPr/>
            <p:nvPr/>
          </p:nvSpPr>
          <p:spPr>
            <a:xfrm>
              <a:off x="0" y="0"/>
              <a:ext cx="3169600" cy="464454"/>
            </a:xfrm>
            <a:custGeom>
              <a:avLst/>
              <a:gdLst/>
              <a:ahLst/>
              <a:cxnLst/>
              <a:rect l="l" t="t" r="r" b="b"/>
              <a:pathLst>
                <a:path w="3169600" h="464454">
                  <a:moveTo>
                    <a:pt x="32165" y="0"/>
                  </a:moveTo>
                  <a:lnTo>
                    <a:pt x="3137435" y="0"/>
                  </a:lnTo>
                  <a:cubicBezTo>
                    <a:pt x="3145966" y="0"/>
                    <a:pt x="3154147" y="3389"/>
                    <a:pt x="3160179" y="9421"/>
                  </a:cubicBezTo>
                  <a:cubicBezTo>
                    <a:pt x="3166212" y="15453"/>
                    <a:pt x="3169600" y="23635"/>
                    <a:pt x="3169600" y="32165"/>
                  </a:cubicBezTo>
                  <a:lnTo>
                    <a:pt x="3169600" y="432289"/>
                  </a:lnTo>
                  <a:cubicBezTo>
                    <a:pt x="3169600" y="440819"/>
                    <a:pt x="3166212" y="449001"/>
                    <a:pt x="3160179" y="455033"/>
                  </a:cubicBezTo>
                  <a:cubicBezTo>
                    <a:pt x="3154147" y="461065"/>
                    <a:pt x="3145966" y="464454"/>
                    <a:pt x="3137435" y="464454"/>
                  </a:cubicBezTo>
                  <a:lnTo>
                    <a:pt x="32165" y="464454"/>
                  </a:lnTo>
                  <a:cubicBezTo>
                    <a:pt x="23635" y="464454"/>
                    <a:pt x="15453" y="461065"/>
                    <a:pt x="9421" y="455033"/>
                  </a:cubicBezTo>
                  <a:cubicBezTo>
                    <a:pt x="3389" y="449001"/>
                    <a:pt x="0" y="440819"/>
                    <a:pt x="0" y="432289"/>
                  </a:cubicBezTo>
                  <a:lnTo>
                    <a:pt x="0" y="32165"/>
                  </a:lnTo>
                  <a:cubicBezTo>
                    <a:pt x="0" y="23635"/>
                    <a:pt x="3389" y="15453"/>
                    <a:pt x="9421" y="9421"/>
                  </a:cubicBezTo>
                  <a:cubicBezTo>
                    <a:pt x="15453" y="3389"/>
                    <a:pt x="23635" y="0"/>
                    <a:pt x="3216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C56E583B-2F57-C6A2-7A22-2E1BF60AD0B5}"/>
                </a:ext>
              </a:extLst>
            </p:cNvPr>
            <p:cNvSpPr txBox="1"/>
            <p:nvPr/>
          </p:nvSpPr>
          <p:spPr>
            <a:xfrm>
              <a:off x="0" y="-38100"/>
              <a:ext cx="3169600" cy="50255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32" name="Group 8">
            <a:extLst>
              <a:ext uri="{FF2B5EF4-FFF2-40B4-BE49-F238E27FC236}">
                <a16:creationId xmlns:a16="http://schemas.microsoft.com/office/drawing/2014/main" id="{4628AD66-B1B8-D8FB-4BBD-2E8C5CE16E5C}"/>
              </a:ext>
            </a:extLst>
          </p:cNvPr>
          <p:cNvGrpSpPr/>
          <p:nvPr/>
        </p:nvGrpSpPr>
        <p:grpSpPr>
          <a:xfrm>
            <a:off x="83659" y="5545564"/>
            <a:ext cx="11002683" cy="1134525"/>
            <a:chOff x="0" y="0"/>
            <a:chExt cx="3169600" cy="464454"/>
          </a:xfrm>
          <a:solidFill>
            <a:srgbClr val="7030A0"/>
          </a:solidFill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539499D5-9D93-2C9F-4367-6F1F39E59093}"/>
                </a:ext>
              </a:extLst>
            </p:cNvPr>
            <p:cNvSpPr/>
            <p:nvPr/>
          </p:nvSpPr>
          <p:spPr>
            <a:xfrm>
              <a:off x="0" y="0"/>
              <a:ext cx="3169600" cy="464454"/>
            </a:xfrm>
            <a:custGeom>
              <a:avLst/>
              <a:gdLst/>
              <a:ahLst/>
              <a:cxnLst/>
              <a:rect l="l" t="t" r="r" b="b"/>
              <a:pathLst>
                <a:path w="3169600" h="464454">
                  <a:moveTo>
                    <a:pt x="32165" y="0"/>
                  </a:moveTo>
                  <a:lnTo>
                    <a:pt x="3137435" y="0"/>
                  </a:lnTo>
                  <a:cubicBezTo>
                    <a:pt x="3145966" y="0"/>
                    <a:pt x="3154147" y="3389"/>
                    <a:pt x="3160179" y="9421"/>
                  </a:cubicBezTo>
                  <a:cubicBezTo>
                    <a:pt x="3166212" y="15453"/>
                    <a:pt x="3169600" y="23635"/>
                    <a:pt x="3169600" y="32165"/>
                  </a:cubicBezTo>
                  <a:lnTo>
                    <a:pt x="3169600" y="432289"/>
                  </a:lnTo>
                  <a:cubicBezTo>
                    <a:pt x="3169600" y="440819"/>
                    <a:pt x="3166212" y="449001"/>
                    <a:pt x="3160179" y="455033"/>
                  </a:cubicBezTo>
                  <a:cubicBezTo>
                    <a:pt x="3154147" y="461065"/>
                    <a:pt x="3145966" y="464454"/>
                    <a:pt x="3137435" y="464454"/>
                  </a:cubicBezTo>
                  <a:lnTo>
                    <a:pt x="32165" y="464454"/>
                  </a:lnTo>
                  <a:cubicBezTo>
                    <a:pt x="23635" y="464454"/>
                    <a:pt x="15453" y="461065"/>
                    <a:pt x="9421" y="455033"/>
                  </a:cubicBezTo>
                  <a:cubicBezTo>
                    <a:pt x="3389" y="449001"/>
                    <a:pt x="0" y="440819"/>
                    <a:pt x="0" y="432289"/>
                  </a:cubicBezTo>
                  <a:lnTo>
                    <a:pt x="0" y="32165"/>
                  </a:lnTo>
                  <a:cubicBezTo>
                    <a:pt x="0" y="23635"/>
                    <a:pt x="3389" y="15453"/>
                    <a:pt x="9421" y="9421"/>
                  </a:cubicBezTo>
                  <a:cubicBezTo>
                    <a:pt x="15453" y="3389"/>
                    <a:pt x="23635" y="0"/>
                    <a:pt x="3216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F2CEBF2E-BF72-E3A1-B32D-61E1BFB9835D}"/>
                </a:ext>
              </a:extLst>
            </p:cNvPr>
            <p:cNvSpPr txBox="1"/>
            <p:nvPr/>
          </p:nvSpPr>
          <p:spPr>
            <a:xfrm>
              <a:off x="0" y="-38100"/>
              <a:ext cx="3169600" cy="50255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37" name="Freeform 11">
            <a:extLst>
              <a:ext uri="{FF2B5EF4-FFF2-40B4-BE49-F238E27FC236}">
                <a16:creationId xmlns:a16="http://schemas.microsoft.com/office/drawing/2014/main" id="{D81F3547-F476-E05F-9F50-B10CD3CAACF9}"/>
              </a:ext>
            </a:extLst>
          </p:cNvPr>
          <p:cNvSpPr/>
          <p:nvPr/>
        </p:nvSpPr>
        <p:spPr>
          <a:xfrm>
            <a:off x="11251846" y="1665708"/>
            <a:ext cx="1156716" cy="1315511"/>
          </a:xfrm>
          <a:custGeom>
            <a:avLst/>
            <a:gdLst/>
            <a:ahLst/>
            <a:cxnLst/>
            <a:rect l="l" t="t" r="r" b="b"/>
            <a:pathLst>
              <a:path w="1156716" h="1445895">
                <a:moveTo>
                  <a:pt x="0" y="0"/>
                </a:moveTo>
                <a:lnTo>
                  <a:pt x="1156716" y="0"/>
                </a:lnTo>
                <a:lnTo>
                  <a:pt x="1156716" y="1445895"/>
                </a:lnTo>
                <a:lnTo>
                  <a:pt x="0" y="1445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 algn="ctr">
              <a:lnSpc>
                <a:spcPts val="72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FS Albert Arabic Bold"/>
                <a:ea typeface="FS Albert Arabic Bold"/>
                <a:cs typeface="FS Albert Arabic Bold"/>
                <a:sym typeface="FS Albert Arabic Bold"/>
              </a:rPr>
              <a:t>1</a:t>
            </a:r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BCD7BE9E-5843-3568-A13A-EF6540EA32AA}"/>
              </a:ext>
            </a:extLst>
          </p:cNvPr>
          <p:cNvSpPr/>
          <p:nvPr/>
        </p:nvSpPr>
        <p:spPr>
          <a:xfrm>
            <a:off x="11082198" y="2917760"/>
            <a:ext cx="1156716" cy="1227592"/>
          </a:xfrm>
          <a:custGeom>
            <a:avLst/>
            <a:gdLst/>
            <a:ahLst/>
            <a:cxnLst/>
            <a:rect l="l" t="t" r="r" b="b"/>
            <a:pathLst>
              <a:path w="1156716" h="1445895">
                <a:moveTo>
                  <a:pt x="0" y="0"/>
                </a:moveTo>
                <a:lnTo>
                  <a:pt x="1156716" y="0"/>
                </a:lnTo>
                <a:lnTo>
                  <a:pt x="1156716" y="1445895"/>
                </a:lnTo>
                <a:lnTo>
                  <a:pt x="0" y="1445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5FF88D8D-B26E-2E4C-4349-B602FA31C35A}"/>
              </a:ext>
            </a:extLst>
          </p:cNvPr>
          <p:cNvSpPr/>
          <p:nvPr/>
        </p:nvSpPr>
        <p:spPr>
          <a:xfrm>
            <a:off x="10769562" y="4114816"/>
            <a:ext cx="1156716" cy="1269880"/>
          </a:xfrm>
          <a:custGeom>
            <a:avLst/>
            <a:gdLst/>
            <a:ahLst/>
            <a:cxnLst/>
            <a:rect l="l" t="t" r="r" b="b"/>
            <a:pathLst>
              <a:path w="1156716" h="1445895">
                <a:moveTo>
                  <a:pt x="0" y="0"/>
                </a:moveTo>
                <a:lnTo>
                  <a:pt x="1156716" y="0"/>
                </a:lnTo>
                <a:lnTo>
                  <a:pt x="1156716" y="1445895"/>
                </a:lnTo>
                <a:lnTo>
                  <a:pt x="0" y="1445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7353864F-5AD1-99FB-49C8-56D20A846634}"/>
              </a:ext>
            </a:extLst>
          </p:cNvPr>
          <p:cNvSpPr/>
          <p:nvPr/>
        </p:nvSpPr>
        <p:spPr>
          <a:xfrm>
            <a:off x="10456926" y="5389878"/>
            <a:ext cx="1156716" cy="1445895"/>
          </a:xfrm>
          <a:custGeom>
            <a:avLst/>
            <a:gdLst/>
            <a:ahLst/>
            <a:cxnLst/>
            <a:rect l="l" t="t" r="r" b="b"/>
            <a:pathLst>
              <a:path w="1156716" h="1445895">
                <a:moveTo>
                  <a:pt x="0" y="0"/>
                </a:moveTo>
                <a:lnTo>
                  <a:pt x="1156716" y="0"/>
                </a:lnTo>
                <a:lnTo>
                  <a:pt x="1156716" y="1445895"/>
                </a:lnTo>
                <a:lnTo>
                  <a:pt x="0" y="1445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A730C3-F4F6-FFE8-660F-0DB20D88A4DA}"/>
              </a:ext>
            </a:extLst>
          </p:cNvPr>
          <p:cNvSpPr txBox="1"/>
          <p:nvPr/>
        </p:nvSpPr>
        <p:spPr>
          <a:xfrm>
            <a:off x="11446647" y="3181141"/>
            <a:ext cx="289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7B3AA0-B18A-1D80-A94D-052718F3CF81}"/>
              </a:ext>
            </a:extLst>
          </p:cNvPr>
          <p:cNvSpPr txBox="1"/>
          <p:nvPr/>
        </p:nvSpPr>
        <p:spPr>
          <a:xfrm>
            <a:off x="11120014" y="4477224"/>
            <a:ext cx="518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730C06-BC09-263F-52CC-B6CADD9E58A6}"/>
              </a:ext>
            </a:extLst>
          </p:cNvPr>
          <p:cNvSpPr txBox="1"/>
          <p:nvPr/>
        </p:nvSpPr>
        <p:spPr>
          <a:xfrm>
            <a:off x="10789321" y="5785058"/>
            <a:ext cx="405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8F0F0F-A19F-74BB-3D07-162F5655837A}"/>
              </a:ext>
            </a:extLst>
          </p:cNvPr>
          <p:cNvSpPr txBox="1"/>
          <p:nvPr/>
        </p:nvSpPr>
        <p:spPr>
          <a:xfrm>
            <a:off x="2127183" y="1946545"/>
            <a:ext cx="91246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Role-Based Authentication</a:t>
            </a:r>
          </a:p>
          <a:p>
            <a:pPr algn="ctr"/>
            <a:r>
              <a:rPr lang="en-GB" sz="2000" dirty="0">
                <a:solidFill>
                  <a:srgbClr val="CF9FFF"/>
                </a:solidFill>
              </a:rPr>
              <a:t>Secure sign-up and login tailored for both Students and Companies.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32B670-2D55-41B7-EF09-5E9FCCF60277}"/>
              </a:ext>
            </a:extLst>
          </p:cNvPr>
          <p:cNvSpPr txBox="1"/>
          <p:nvPr/>
        </p:nvSpPr>
        <p:spPr>
          <a:xfrm>
            <a:off x="1540042" y="3180752"/>
            <a:ext cx="94795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Smart Search &amp; Filtering</a:t>
            </a:r>
          </a:p>
          <a:p>
            <a:r>
              <a:rPr lang="en-GB" sz="2000" dirty="0">
                <a:solidFill>
                  <a:srgbClr val="CF9FFF"/>
                </a:solidFill>
              </a:rPr>
              <a:t>Easily discover internships by category, location, or required tech stack.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A58881-A3B4-4461-6482-75584F4D9B3A}"/>
              </a:ext>
            </a:extLst>
          </p:cNvPr>
          <p:cNvSpPr txBox="1"/>
          <p:nvPr/>
        </p:nvSpPr>
        <p:spPr>
          <a:xfrm>
            <a:off x="860221" y="4453197"/>
            <a:ext cx="96766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Application Management</a:t>
            </a:r>
          </a:p>
          <a:p>
            <a:r>
              <a:rPr lang="en-GB" sz="2000" dirty="0">
                <a:solidFill>
                  <a:srgbClr val="CF9FFF"/>
                </a:solidFill>
              </a:rPr>
              <a:t>Students can apply seamlessly and track their application status in real-time</a:t>
            </a:r>
            <a:r>
              <a:rPr lang="en-GB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E977FB-B3BC-3786-6EF6-9F6A0C08D63F}"/>
              </a:ext>
            </a:extLst>
          </p:cNvPr>
          <p:cNvSpPr txBox="1"/>
          <p:nvPr/>
        </p:nvSpPr>
        <p:spPr>
          <a:xfrm>
            <a:off x="194512" y="5766033"/>
            <a:ext cx="92787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Interactive Dashboards</a:t>
            </a:r>
          </a:p>
          <a:p>
            <a:r>
              <a:rPr lang="en-GB" sz="2000" dirty="0">
                <a:solidFill>
                  <a:srgbClr val="CF9FFF"/>
                </a:solidFill>
              </a:rPr>
              <a:t>Personalized control panels to manage profiles, track activity, and view posts.</a:t>
            </a:r>
          </a:p>
        </p:txBody>
      </p:sp>
    </p:spTree>
    <p:extLst>
      <p:ext uri="{BB962C8B-B14F-4D97-AF65-F5344CB8AC3E}">
        <p14:creationId xmlns:p14="http://schemas.microsoft.com/office/powerpoint/2010/main" val="55633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7" grpId="0" animBg="1"/>
      <p:bldP spid="39" grpId="0" animBg="1"/>
      <p:bldP spid="41" grpId="0" animBg="1"/>
      <p:bldP spid="42" grpId="0" animBg="1"/>
      <p:bldP spid="47" grpId="0"/>
      <p:bldP spid="50" grpId="0"/>
      <p:bldP spid="52" grpId="0"/>
      <p:bldP spid="54" grpId="0"/>
      <p:bldP spid="56" grpId="0"/>
      <p:bldP spid="58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02C7-0806-0C48-20AE-579FEF6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A5F7FD04-E5EC-FDBB-B9EF-517E62C1BB53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C9A78ACC-1345-3D7B-573A-3E78942A2466}"/>
              </a:ext>
            </a:extLst>
          </p:cNvPr>
          <p:cNvSpPr/>
          <p:nvPr/>
        </p:nvSpPr>
        <p:spPr>
          <a:xfrm>
            <a:off x="359102" y="623526"/>
            <a:ext cx="7206354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b="1" dirty="0">
                <a:solidFill>
                  <a:schemeClr val="bg1"/>
                </a:solidFill>
              </a:rPr>
              <a:t>Future Scope &amp; Roadmap</a:t>
            </a:r>
          </a:p>
        </p:txBody>
      </p:sp>
      <p:grpSp>
        <p:nvGrpSpPr>
          <p:cNvPr id="19" name="Group 31">
            <a:extLst>
              <a:ext uri="{FF2B5EF4-FFF2-40B4-BE49-F238E27FC236}">
                <a16:creationId xmlns:a16="http://schemas.microsoft.com/office/drawing/2014/main" id="{3ACA1E90-42DD-0BF5-1AB1-E43EFCBF2C7C}"/>
              </a:ext>
            </a:extLst>
          </p:cNvPr>
          <p:cNvGrpSpPr/>
          <p:nvPr/>
        </p:nvGrpSpPr>
        <p:grpSpPr>
          <a:xfrm>
            <a:off x="359102" y="3012707"/>
            <a:ext cx="3295322" cy="2722547"/>
            <a:chOff x="0" y="0"/>
            <a:chExt cx="824897" cy="628323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10A244F-7D9B-5496-574F-68297B58173E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52A69BED-3972-0362-2F87-A0AD6F4E9AA6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2" name="Group 31">
            <a:extLst>
              <a:ext uri="{FF2B5EF4-FFF2-40B4-BE49-F238E27FC236}">
                <a16:creationId xmlns:a16="http://schemas.microsoft.com/office/drawing/2014/main" id="{27A4314B-2000-54EC-9E8A-BCAB5E18880F}"/>
              </a:ext>
            </a:extLst>
          </p:cNvPr>
          <p:cNvGrpSpPr/>
          <p:nvPr/>
        </p:nvGrpSpPr>
        <p:grpSpPr>
          <a:xfrm>
            <a:off x="4472202" y="3012707"/>
            <a:ext cx="3410889" cy="2722547"/>
            <a:chOff x="0" y="0"/>
            <a:chExt cx="824897" cy="628323"/>
          </a:xfrm>
        </p:grpSpPr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40391B73-1E0F-0758-1287-31E62CF5D961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32312430-B9BC-4F8D-B90A-54F75B54A924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grpSp>
        <p:nvGrpSpPr>
          <p:cNvPr id="25" name="Group 31">
            <a:extLst>
              <a:ext uri="{FF2B5EF4-FFF2-40B4-BE49-F238E27FC236}">
                <a16:creationId xmlns:a16="http://schemas.microsoft.com/office/drawing/2014/main" id="{C1E44377-9C47-31B2-4C71-A7B3EE8867AA}"/>
              </a:ext>
            </a:extLst>
          </p:cNvPr>
          <p:cNvGrpSpPr/>
          <p:nvPr/>
        </p:nvGrpSpPr>
        <p:grpSpPr>
          <a:xfrm>
            <a:off x="8630147" y="2806347"/>
            <a:ext cx="3384656" cy="2928909"/>
            <a:chOff x="0" y="-47625"/>
            <a:chExt cx="824897" cy="675948"/>
          </a:xfrm>
        </p:grpSpPr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AFA501E8-1DED-18B7-2ADA-22BD2E62A958}"/>
                </a:ext>
              </a:extLst>
            </p:cNvPr>
            <p:cNvSpPr/>
            <p:nvPr/>
          </p:nvSpPr>
          <p:spPr>
            <a:xfrm>
              <a:off x="0" y="0"/>
              <a:ext cx="824897" cy="628323"/>
            </a:xfrm>
            <a:custGeom>
              <a:avLst/>
              <a:gdLst/>
              <a:ahLst/>
              <a:cxnLst/>
              <a:rect l="l" t="t" r="r" b="b"/>
              <a:pathLst>
                <a:path w="824897" h="628323">
                  <a:moveTo>
                    <a:pt x="34606" y="0"/>
                  </a:moveTo>
                  <a:lnTo>
                    <a:pt x="790291" y="0"/>
                  </a:lnTo>
                  <a:cubicBezTo>
                    <a:pt x="809403" y="0"/>
                    <a:pt x="824897" y="15494"/>
                    <a:pt x="824897" y="34606"/>
                  </a:cubicBezTo>
                  <a:lnTo>
                    <a:pt x="824897" y="593717"/>
                  </a:lnTo>
                  <a:cubicBezTo>
                    <a:pt x="824897" y="602895"/>
                    <a:pt x="821251" y="611697"/>
                    <a:pt x="814761" y="618187"/>
                  </a:cubicBezTo>
                  <a:cubicBezTo>
                    <a:pt x="808271" y="624677"/>
                    <a:pt x="799469" y="628323"/>
                    <a:pt x="790291" y="628323"/>
                  </a:cubicBezTo>
                  <a:lnTo>
                    <a:pt x="34606" y="628323"/>
                  </a:lnTo>
                  <a:cubicBezTo>
                    <a:pt x="15494" y="628323"/>
                    <a:pt x="0" y="612829"/>
                    <a:pt x="0" y="593717"/>
                  </a:cubicBezTo>
                  <a:lnTo>
                    <a:pt x="0" y="34606"/>
                  </a:lnTo>
                  <a:cubicBezTo>
                    <a:pt x="0" y="15494"/>
                    <a:pt x="15494" y="0"/>
                    <a:pt x="34606" y="0"/>
                  </a:cubicBezTo>
                  <a:close/>
                </a:path>
              </a:pathLst>
            </a:custGeom>
            <a:solidFill>
              <a:srgbClr val="7030A0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2F29BF08-752A-22F4-C9C1-C4CC8ED8DF52}"/>
                </a:ext>
              </a:extLst>
            </p:cNvPr>
            <p:cNvSpPr txBox="1"/>
            <p:nvPr/>
          </p:nvSpPr>
          <p:spPr>
            <a:xfrm>
              <a:off x="0" y="-47625"/>
              <a:ext cx="824897" cy="675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1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BC145B-0B15-B7AB-DAC7-310465B8398B}"/>
              </a:ext>
            </a:extLst>
          </p:cNvPr>
          <p:cNvSpPr txBox="1"/>
          <p:nvPr/>
        </p:nvSpPr>
        <p:spPr>
          <a:xfrm>
            <a:off x="481054" y="3208971"/>
            <a:ext cx="317337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/>
              <a:t>​🤖 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AI-Powered Matching</a:t>
            </a:r>
          </a:p>
          <a:p>
            <a:r>
              <a:rPr lang="en-GB" sz="2200" dirty="0">
                <a:solidFill>
                  <a:srgbClr val="CC99FF"/>
                </a:solidFill>
              </a:rPr>
              <a:t>Integrating smart algorithms to match students with internships based on their skills.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D94866-D7F2-1652-4DE2-11FAEF0291A2}"/>
              </a:ext>
            </a:extLst>
          </p:cNvPr>
          <p:cNvSpPr txBox="1"/>
          <p:nvPr/>
        </p:nvSpPr>
        <p:spPr>
          <a:xfrm>
            <a:off x="8630148" y="3132027"/>
            <a:ext cx="338465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​📊</a:t>
            </a:r>
          </a:p>
          <a:p>
            <a:r>
              <a:rPr lang="en-GB" sz="2400" dirty="0"/>
              <a:t> </a:t>
            </a:r>
            <a:r>
              <a:rPr lang="en-GB" sz="2400" b="1" dirty="0">
                <a:solidFill>
                  <a:schemeClr val="bg1"/>
                </a:solidFill>
              </a:rPr>
              <a:t>Advanced Analytics</a:t>
            </a:r>
          </a:p>
          <a:p>
            <a:r>
              <a:rPr lang="en-GB" sz="2200" dirty="0">
                <a:solidFill>
                  <a:srgbClr val="CC99FF"/>
                </a:solidFill>
              </a:rPr>
              <a:t>Providing deeper performance tracking and analytics dashboards for companies.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5D3CDF-9B9E-72C3-CD48-FF4EFB8DB42A}"/>
              </a:ext>
            </a:extLst>
          </p:cNvPr>
          <p:cNvSpPr txBox="1"/>
          <p:nvPr/>
        </p:nvSpPr>
        <p:spPr>
          <a:xfrm>
            <a:off x="4529248" y="3178193"/>
            <a:ext cx="335384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​📱 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Mobile Application</a:t>
            </a:r>
          </a:p>
          <a:p>
            <a:r>
              <a:rPr lang="en-GB" sz="2200" dirty="0">
                <a:solidFill>
                  <a:srgbClr val="CC99FF"/>
                </a:solidFill>
              </a:rPr>
              <a:t>Launching dedicated Android and iOS apps for a smoother mobile experience.</a:t>
            </a: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2E050821-2C4F-EC3A-28EB-132666FD133A}"/>
              </a:ext>
            </a:extLst>
          </p:cNvPr>
          <p:cNvSpPr/>
          <p:nvPr/>
        </p:nvSpPr>
        <p:spPr>
          <a:xfrm>
            <a:off x="8700869" y="44218"/>
            <a:ext cx="3321630" cy="2924969"/>
          </a:xfrm>
          <a:custGeom>
            <a:avLst/>
            <a:gdLst/>
            <a:ahLst/>
            <a:cxnLst/>
            <a:rect l="l" t="t" r="r" b="b"/>
            <a:pathLst>
              <a:path w="3321630" h="4114800">
                <a:moveTo>
                  <a:pt x="0" y="0"/>
                </a:moveTo>
                <a:lnTo>
                  <a:pt x="3321630" y="0"/>
                </a:lnTo>
                <a:lnTo>
                  <a:pt x="3321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1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17" grpId="0"/>
      <p:bldP spid="28" grpId="0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C690-8E6B-C4E2-ACF6-1BD535EA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134B5FF6-932B-F964-5CBA-8DC3BB6CDB66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609B3707-F70A-21BA-D843-3CDECE72BE96}"/>
              </a:ext>
            </a:extLst>
          </p:cNvPr>
          <p:cNvSpPr/>
          <p:nvPr/>
        </p:nvSpPr>
        <p:spPr>
          <a:xfrm>
            <a:off x="80134" y="257475"/>
            <a:ext cx="8726982" cy="818148"/>
          </a:xfrm>
          <a:prstGeom prst="round1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b="1" dirty="0">
                <a:solidFill>
                  <a:schemeClr val="bg1"/>
                </a:solidFill>
              </a:rPr>
              <a:t>Our Development 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DA91B-97F3-33A3-02B9-8B059A116CD3}"/>
              </a:ext>
            </a:extLst>
          </p:cNvPr>
          <p:cNvSpPr/>
          <p:nvPr/>
        </p:nvSpPr>
        <p:spPr>
          <a:xfrm>
            <a:off x="269506" y="1535228"/>
            <a:ext cx="5532057" cy="5245769"/>
          </a:xfrm>
          <a:prstGeom prst="rect">
            <a:avLst/>
          </a:prstGeom>
          <a:solidFill>
            <a:srgbClr val="F3E8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48906-2ED2-BF58-0536-16AC639EE352}"/>
              </a:ext>
            </a:extLst>
          </p:cNvPr>
          <p:cNvSpPr/>
          <p:nvPr/>
        </p:nvSpPr>
        <p:spPr>
          <a:xfrm>
            <a:off x="6304548" y="1524544"/>
            <a:ext cx="5617946" cy="5256453"/>
          </a:xfrm>
          <a:prstGeom prst="rect">
            <a:avLst/>
          </a:prstGeom>
          <a:solidFill>
            <a:srgbClr val="F3E8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58268D-71A9-460F-A7AE-317BC9283305}"/>
              </a:ext>
            </a:extLst>
          </p:cNvPr>
          <p:cNvSpPr/>
          <p:nvPr/>
        </p:nvSpPr>
        <p:spPr>
          <a:xfrm>
            <a:off x="269506" y="1434163"/>
            <a:ext cx="5532057" cy="96252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Front-End &amp; UI/UX Team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B34BB8-AA75-48DE-A6FB-DEA2177A4982}"/>
              </a:ext>
            </a:extLst>
          </p:cNvPr>
          <p:cNvSpPr/>
          <p:nvPr/>
        </p:nvSpPr>
        <p:spPr>
          <a:xfrm>
            <a:off x="6304548" y="1434163"/>
            <a:ext cx="5617946" cy="96252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Back-End &amp; Database Team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83202A-5343-7F19-2082-2DC860EF7943}"/>
              </a:ext>
            </a:extLst>
          </p:cNvPr>
          <p:cNvSpPr txBox="1"/>
          <p:nvPr/>
        </p:nvSpPr>
        <p:spPr>
          <a:xfrm>
            <a:off x="6486691" y="2514589"/>
            <a:ext cx="5435803" cy="1493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Badr Ahmed Sayed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32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Antonyos Moures Ibrahim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C5A42-0DA7-8C68-00ED-D277090D84EC}"/>
              </a:ext>
            </a:extLst>
          </p:cNvPr>
          <p:cNvSpPr txBox="1"/>
          <p:nvPr/>
        </p:nvSpPr>
        <p:spPr>
          <a:xfrm>
            <a:off x="365760" y="2590800"/>
            <a:ext cx="5303520" cy="3483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Fatema </a:t>
            </a:r>
            <a:r>
              <a:rPr lang="en-GB" sz="3000" dirty="0" err="1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Mohey</a:t>
            </a: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 Eldin Mostafa</a:t>
            </a:r>
            <a:endParaRPr lang="en-GB" sz="3000" dirty="0">
              <a:effectLst>
                <a:outerShdw blurRad="38100" dist="38100" dir="2700000" algn="tl">
                  <a:srgbClr val="7030A0">
                    <a:alpha val="43000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Mohamed Ehab Abdrabo</a:t>
            </a:r>
            <a:endParaRPr lang="en-GB" sz="3000" dirty="0">
              <a:effectLst>
                <a:outerShdw blurRad="38100" dist="38100" dir="2700000" algn="tl">
                  <a:srgbClr val="7030A0">
                    <a:alpha val="43000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Fatma Salama Elkholy</a:t>
            </a:r>
            <a:endParaRPr lang="en-GB" sz="3000" dirty="0">
              <a:effectLst>
                <a:outerShdw blurRad="38100" dist="38100" dir="2700000" algn="tl">
                  <a:srgbClr val="7030A0">
                    <a:alpha val="43000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Farah Amin </a:t>
            </a:r>
            <a:r>
              <a:rPr lang="en-GB" sz="3000" dirty="0" err="1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Elsadik</a:t>
            </a:r>
            <a:endParaRPr lang="en-GB" sz="3000" dirty="0">
              <a:solidFill>
                <a:srgbClr val="C489FF"/>
              </a:solidFill>
              <a:effectLst>
                <a:outerShdw blurRad="38100" dist="38100" dir="2700000" algn="tl">
                  <a:srgbClr val="7030A0">
                    <a:alpha val="43000"/>
                  </a:srgbClr>
                </a:outerShdw>
              </a:effectLst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3000" dirty="0">
                <a:solidFill>
                  <a:srgbClr val="C489FF"/>
                </a:solidFill>
                <a:effectLst>
                  <a:outerShdw blurRad="38100" dist="38100" dir="2700000" algn="tl">
                    <a:srgbClr val="7030A0">
                      <a:alpha val="43000"/>
                    </a:srgbClr>
                  </a:outerShdw>
                </a:effectLst>
              </a:rPr>
              <a:t>Sohaila Bahgat Ahmed</a:t>
            </a:r>
          </a:p>
        </p:txBody>
      </p:sp>
    </p:spTree>
    <p:extLst>
      <p:ext uri="{BB962C8B-B14F-4D97-AF65-F5344CB8AC3E}">
        <p14:creationId xmlns:p14="http://schemas.microsoft.com/office/powerpoint/2010/main" val="116152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2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D22B2-BB41-0EEA-5AB1-CB43F1D6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6580F78-9C77-9293-29DB-2682687002C5}"/>
              </a:ext>
            </a:extLst>
          </p:cNvPr>
          <p:cNvSpPr/>
          <p:nvPr/>
        </p:nvSpPr>
        <p:spPr>
          <a:xfrm>
            <a:off x="5801563" y="77002"/>
            <a:ext cx="6390437" cy="6780998"/>
          </a:xfrm>
          <a:custGeom>
            <a:avLst/>
            <a:gdLst/>
            <a:ahLst/>
            <a:cxnLst/>
            <a:rect l="l" t="t" r="r" b="b"/>
            <a:pathLst>
              <a:path w="11458288" h="10694402">
                <a:moveTo>
                  <a:pt x="0" y="0"/>
                </a:moveTo>
                <a:lnTo>
                  <a:pt x="11458288" y="0"/>
                </a:lnTo>
                <a:lnTo>
                  <a:pt x="11458288" y="10694402"/>
                </a:lnTo>
                <a:lnTo>
                  <a:pt x="0" y="10694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4F0D7-E495-801D-9832-8B96A99ABEAD}"/>
              </a:ext>
            </a:extLst>
          </p:cNvPr>
          <p:cNvSpPr txBox="1"/>
          <p:nvPr/>
        </p:nvSpPr>
        <p:spPr>
          <a:xfrm>
            <a:off x="1722922" y="1943978"/>
            <a:ext cx="855685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500" b="1" dirty="0">
                <a:solidFill>
                  <a:schemeClr val="bg1"/>
                </a:solidFill>
              </a:rPr>
              <a:t>Thank You!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</a:rPr>
              <a:t>      Questions &amp; Answers </a:t>
            </a:r>
            <a:r>
              <a:rPr lang="en-GB" sz="7200" dirty="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66628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769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FS Albert Arabic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هالة عبد الحميد مصطفى دويدار</dc:creator>
  <cp:lastModifiedBy>mohamed ehab abdrabo</cp:lastModifiedBy>
  <cp:revision>8</cp:revision>
  <dcterms:created xsi:type="dcterms:W3CDTF">2026-09-07T22:27:47Z</dcterms:created>
  <dcterms:modified xsi:type="dcterms:W3CDTF">2026-09-09T18:17:19Z</dcterms:modified>
</cp:coreProperties>
</file>